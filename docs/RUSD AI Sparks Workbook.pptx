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Quattrocento Sans"/>
      <p:regular r:id="rId17"/>
      <p:bold r:id="rId18"/>
      <p:italic r:id="rId19"/>
      <p:boldItalic r:id="rId20"/>
    </p:embeddedFont>
    <p:embeddedFont>
      <p:font typeface="Questrial"/>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aFOx3BIbzi2anyzJAscY3t92I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Questrial-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QuattrocentoSa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QuattrocentoSans-italic.fntdata"/><Relationship Id="rId6" Type="http://schemas.openxmlformats.org/officeDocument/2006/relationships/slide" Target="slides/slide2.xml"/><Relationship Id="rId18" Type="http://schemas.openxmlformats.org/officeDocument/2006/relationships/font" Target="fonts/Quattrocento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111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111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11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Prepared for Michelle Schuler from David Venne’s September 14, 2026 update. The source is David Venne_TechSpark Fellow_Update 20260915.pdf, a two-page printout of his email “[EXTERNAL] A few TechSpark ‘Sparks’ =),” sent September 14 at 4:50 PM. September 15 is the print date, not the email date.</a:t>
            </a:r>
            <a:br>
              <a:rPr lang="en-US"/>
            </a:br>
            <a:r>
              <a:rPr lang="en-US"/>
              <a:t>The workbook uses the provided Template - AI Spark Workbook.pptx visual identity, branding, native editable cards, and actual blank two-page AI Snapshot layout for each of five initiatives. Generic instructions and sample projects have been omitted. Branding is retained from the supplied template and is not a new claim of sponsorship or endorsement.</a:t>
            </a:r>
            <a:br>
              <a:rPr lang="en-US"/>
            </a:br>
            <a:r>
              <a:rPr lang="en-US"/>
              <a:t>Four initiatives have an AI connection described in the update. The Racine Unified School Foundation is separately identified as an innovation enabler with AI use not documented. No invented AI products, quantified benefits, operational owners, or committed timelines are added. Suggested follow-ups are explicitly labeled. No aggregate reach is calculated.</a:t>
            </a:r>
            <a:br>
              <a:rPr lang="en-US"/>
            </a:br>
            <a:r>
              <a:rPr lang="en-US"/>
              <a:t>Contact source: David Venne, Director of Assessment, Curriculum, &amp; Instruction - Cluster 2, david.venne@rusd.org. Organization: RUSD (Racine Unified School District).</a:t>
            </a:r>
            <a:endParaRPr/>
          </a:p>
        </p:txBody>
      </p:sp>
      <p:sp>
        <p:nvSpPr>
          <p:cNvPr id="14" name="Google Shape;14;p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1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Workbook inventory: five distinct two-page Sparks adapted from the provided blank two-page snapshot design. Page ranges are workbook slide numbers, not PDF pages. The District AI Team is kept together rather than split into policy, training, and student-rollout Sparks.</a:t>
            </a:r>
            <a:br>
              <a:rPr lang="en-US"/>
            </a:br>
            <a:r>
              <a:rPr lang="en-US"/>
              <a:t>Source: David Venne’s email “[EXTERNAL] A few TechSpark ‘Sparks’ =),” sent September 14, 2026 at 4:50 PM, printed as David Venne_TechSpark Fellow_Update 20260915.pdf. Sections on p. 1: “Hour of AI | 4th–6th Grade,” “District AI Team,” and “NOVA Academy.” Sections on p. 2: “JA STEAM Girls” and “Racine Unified School Foundation - 501c3 (RUSF).” NOVA’s anonymized parent email, dated September 3, 2026, is reproduced on PDF p. 2.</a:t>
            </a:r>
            <a:br>
              <a:rPr lang="en-US"/>
            </a:br>
            <a:r>
              <a:rPr lang="en-US"/>
              <a:t>RUSF is explicitly separated as an innovation-enabling initiative with AI use not documented, not represented as an implemented AI use case. No total reach is calculated because populations can overlap. Unknown products, controls, dates, outcomes, and owners remain marked as unspecified or to confirm.</a:t>
            </a:r>
            <a:br>
              <a:rPr lang="en-US"/>
            </a:br>
            <a:r>
              <a:rPr lang="en-US"/>
              <a:t>Contact/update source: David Venne, Director of Assessment, Curriculum, &amp; Instruction - Cluster 2, david.venne@rusd.org. Prepared for Michelle Schuler. This source contact is not asserted as the operational owner of all initiatives.</a:t>
            </a:r>
            <a:endParaRPr/>
          </a:p>
        </p:txBody>
      </p:sp>
      <p:sp>
        <p:nvSpPr>
          <p:cNvPr id="27" name="Google Shape;27;p1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email “[EXTERNAL] A few TechSpark ‘Sparks’ =),” sent September 14, 2026 at 4:50 PM. PDF: David Venne_TechSpark Fellow_Update 20260915.pdf, p. 1, section “Hour of AI | 4th–6th Grade.” September 15 is the print date, not the email date.</a:t>
            </a:r>
            <a:br>
              <a:rPr lang="en-US"/>
            </a:br>
            <a:r>
              <a:rPr lang="en-US"/>
              <a:t>Contact source: David Venne, Director of Assessment, Curriculum, &amp; Instruction - Cluster 2, david.venne@rusd.org. He is the update source; operational ownership of this initiative is not established in the update. Organization: RUSD, Racine Unified School District.</a:t>
            </a:r>
            <a:br>
              <a:rPr lang="en-US"/>
            </a:br>
            <a:r>
              <a:rPr lang="en-US"/>
              <a:t>Reported: more than 1,500 students and more than 100 RUSD staff participated in this hands-on experience. Learning purposes include safe/responsible AI, learning new concepts, analyzing information, and brainstorming. Reach is not evidence of improved learning. The challenge is a concise framing of these reported purposes, not an invented baseline.</a:t>
            </a:r>
            <a:br>
              <a:rPr lang="en-US"/>
            </a:br>
            <a:r>
              <a:rPr lang="en-US"/>
              <a:t>Not specified: exact implementation date, named products, custom prompts, measured learning gains, specific privacy/review controls, next-step owner, and confirmed timetable. Items marked Suggested / to confirm are editorial follow-up questions, not David’s commitments.</a:t>
            </a:r>
            <a:endParaRPr/>
          </a:p>
        </p:txBody>
      </p:sp>
      <p:sp>
        <p:nvSpPr>
          <p:cNvPr id="99" name="Google Shape;99;p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September 14, 2026 update, PDF David Venne_TechSpark Fellow_Update 20260915.pdf, p. 1, section “Hour of AI | 4th–6th Grade.”</a:t>
            </a:r>
            <a:br>
              <a:rPr lang="en-US"/>
            </a:br>
            <a:r>
              <a:rPr lang="en-US"/>
              <a:t>More than 1,500 RUSD students participated and more than 100 staff were involved. The &gt; symbols preserve “more than,” rather than treating the figures as exact counts or learning gains. No aggregate total is calculated because participant populations across initiatives may overlap.</a:t>
            </a:r>
            <a:br>
              <a:rPr lang="en-US"/>
            </a:br>
            <a:r>
              <a:rPr lang="en-US"/>
              <a:t>Burlington contacted RUSD to learn about the experience and is considering a similar student experience “next year,” as reported September 14. No rollout commitment or precise calendar date is documented.</a:t>
            </a:r>
            <a:br>
              <a:rPr lang="en-US"/>
            </a:br>
            <a:r>
              <a:rPr lang="en-US"/>
              <a:t>Safe/responsible use is documented as a learning purpose. Detailed privacy controls, human-review processes, outcome measures, an owner, and a confirmed timetable are not provided. Suggested / to confirm items are recommendations for follow-up, not reported facts or committed plans.</a:t>
            </a:r>
            <a:br>
              <a:rPr lang="en-US"/>
            </a:br>
            <a:r>
              <a:rPr lang="en-US"/>
              <a:t>David Venne is the contact/update source, not an asserted operational owner. Full role: Director of Assessment, Curriculum, &amp; Instruction - Cluster 2; david.venne@rusd.org.</a:t>
            </a:r>
            <a:endParaRPr/>
          </a:p>
        </p:txBody>
      </p:sp>
      <p:sp>
        <p:nvSpPr>
          <p:cNvPr id="135" name="Google Shape;135;p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email “[EXTERNAL] A few TechSpark ‘Sparks’ =),” September 14, 2026 at 4:50 PM. PDF: David Venne_TechSpark Fellow_Update 20260915.pdf, p. 1, section “District AI Team.” The PDF print date is September 15, not the email date.</a:t>
            </a:r>
            <a:br>
              <a:rPr lang="en-US"/>
            </a:br>
            <a:r>
              <a:rPr lang="en-US"/>
              <a:t>RUSD created the District AI Team. The team helped develop a district AI policy that is Board approved, continues learning from regional and national AI leaders, and guides district work. All 1500+ K–12 teaching staff participated in AI professional learning in August 2026 focused on understanding AI and ways to improve work efficiency.</a:t>
            </a:r>
            <a:br>
              <a:rPr lang="en-US"/>
            </a:br>
            <a:r>
              <a:rPr lang="en-US"/>
              <a:t>The displayed August 2026 date applies ONLY to staff professional learning. Team-formation and policy-approval dates are not given. Staff learning, policy development, and student rollout remain together as one District AI Team Spark.</a:t>
            </a:r>
            <a:br>
              <a:rPr lang="en-US"/>
            </a:br>
            <a:r>
              <a:rPr lang="en-US"/>
              <a:t>No actual time savings, platform brands, detailed privacy controls, or precise student-rollout schedule are supplied. Contact source: David Venne, Director of Assessment, Curriculum, &amp; Instruction - Cluster 2, david.venne@rusd.org; he is not asserted to be the operational owner of every activity.</a:t>
            </a:r>
            <a:endParaRPr/>
          </a:p>
        </p:txBody>
      </p:sp>
      <p:sp>
        <p:nvSpPr>
          <p:cNvPr id="169" name="Google Shape;169;p1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2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September 14, 2026 update, PDF David Venne_TechSpark Fellow_Update 20260915.pdf, p. 1, section “District AI Team.”</a:t>
            </a:r>
            <a:br>
              <a:rPr lang="en-US"/>
            </a:br>
            <a:r>
              <a:rPr lang="en-US"/>
              <a:t>Reported milestones: all 1500+ K–12 teaching staff participated in August 2026 professional learning; a district AI policy is Board approved; RUSD is beginning to roll out student AI learning and tools through academy courses and school librarians with an emphasis on responsible use and enhanced learning. The team continues learning from regional and national AI leaders.</a:t>
            </a:r>
            <a:br>
              <a:rPr lang="en-US"/>
            </a:br>
            <a:r>
              <a:rPr lang="en-US"/>
              <a:t>These are participation and governance/rollout milestones, not measured productivity or student-learning gains. Team and Board are human actors documented in the update. No detailed privacy controls, named AI brands, actual time savings, operational rollout owner, or precise timetable are provided. August is not asserted as the team-formation or policy-approval date.</a:t>
            </a:r>
            <a:br>
              <a:rPr lang="en-US"/>
            </a:br>
            <a:r>
              <a:rPr lang="en-US"/>
              <a:t>Contact source: David Venne, Director of Assessment, Curriculum, &amp; Instruction - Cluster 2, david.venne@rusd.org. Organization: RUSD (Racine Unified School District).</a:t>
            </a:r>
            <a:endParaRPr/>
          </a:p>
        </p:txBody>
      </p:sp>
      <p:sp>
        <p:nvSpPr>
          <p:cNvPr id="205" name="Google Shape;205;p2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email “[EXTERNAL] A few TechSpark ‘Sparks’ =),” sent September 14, 2026 at 4:50 PM. PDF: David Venne_TechSpark Fellow_Update 20260915.pdf, p. 1, section “NOVA Academy.” September 15 is the PDF print date.</a:t>
            </a:r>
            <a:br>
              <a:rPr lang="en-US"/>
            </a:br>
            <a:r>
              <a:rPr lang="en-US"/>
              <a:t>Reported: a new grades 6–7 microschool at Red Apple launching “this school year.” It combines personalized learning, AI, hands-on experiences, choice, and real-world problem solving. Mornings feature personalized math and ELA pathways. Afternoons include workshops, projects, exploration, and real-world applications. Flex Time choices include coding, video production, entrepreneurship, creative arts, design, and world languages; the slide uses concise labels for these choices. David refers to two teachers but supplies no enrollment count or academic gains.</a:t>
            </a:r>
            <a:br>
              <a:rPr lang="en-US"/>
            </a:br>
            <a:r>
              <a:rPr lang="en-US"/>
              <a:t>The update does not name AI products or specify exactly how AI is used in each activity. Safeguards, an operational next-step owner, and exact dates are not given. Suggested / to confirm items are follow-up recommendations, not reported controls.</a:t>
            </a:r>
            <a:br>
              <a:rPr lang="en-US"/>
            </a:br>
            <a:r>
              <a:rPr lang="en-US"/>
              <a:t>Contact source: David Venne, Director of Assessment, Curriculum, &amp; Instruction - Cluster 2, david.venne@rusd.org. He is not asserted to be the operational owner.</a:t>
            </a:r>
            <a:endParaRPr/>
          </a:p>
        </p:txBody>
      </p:sp>
      <p:sp>
        <p:nvSpPr>
          <p:cNvPr id="239" name="Google Shape;239;p2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Sources: David Venne, September 14, 2026 update, PDF David Venne_TechSpark Fellow_Update 20260915.pdf, p. 1, section “NOVA Academy”; and an anonymized parent email dated September 3, 2026 reproduced as an embedded image on PDF p. 2.</a:t>
            </a:r>
            <a:br>
              <a:rPr lang="en-US"/>
            </a:br>
            <a:r>
              <a:rPr lang="en-US"/>
              <a:t>One parent describes a sixth grader’s greater eagerness for school, learning/leading/encouraging others, trying new things, and confidence. The slide summarizes the parent’s own account without the parent’s or child’s name, email address, or screenshot. This is early qualitative feedback from one parent, not a measured program evaluation and not evidence that AI caused these changes.</a:t>
            </a:r>
            <a:br>
              <a:rPr lang="en-US"/>
            </a:br>
            <a:r>
              <a:rPr lang="en-US"/>
              <a:t>The third card explicitly marks learning gains and AI-specific effects as unknown from the update. Program design and the school launch are not treated as measured impact. Enrollment, named products, detailed safeguards, a next-step owner, and precise implementation dates are not supplied. The reported timing remains “this school year” in the September 2026 update.</a:t>
            </a:r>
            <a:br>
              <a:rPr lang="en-US"/>
            </a:br>
            <a:r>
              <a:rPr lang="en-US"/>
              <a:t>Contact source: David Venne, Director of Assessment, Curriculum, &amp; Instruction - Cluster 2, david.venne@rusd.org. Suggested / to confirm items are editorial follow-up questions, not commitments.</a:t>
            </a:r>
            <a:endParaRPr/>
          </a:p>
        </p:txBody>
      </p:sp>
      <p:sp>
        <p:nvSpPr>
          <p:cNvPr id="275" name="Google Shape;275;p2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email “[EXTERNAL] A few TechSpark ‘Sparks’ =),” September 14, 2026 at 4:50 PM. PDF: David Venne_TechSpark Fellow_Update 20260915.pdf, p. 2, section “JA STEAM Girls.” The print date of September 15 is not the email date.</a:t>
            </a:r>
            <a:br>
              <a:rPr lang="en-US"/>
            </a:br>
            <a:r>
              <a:rPr lang="en-US"/>
              <a:t>Reported: hands-on STEAM experiences and connections with women working in STEAM careers. During summer 2026 the program was revamped to include new/emerging technology, including AI, while retaining real-world application and career exploration. Approximately 40 girls are currently enrolled.</a:t>
            </a:r>
            <a:br>
              <a:rPr lang="en-US"/>
            </a:br>
            <a:r>
              <a:rPr lang="en-US"/>
              <a:t>The ~ symbol retains the approximate nature of enrollment. It is not an exact total and not a completion count. No named AI tools, implementation detail, documented safety controls, measured career/learning gains, or next-step dates are supplied. Suggested / to confirm items are follow-up questions, not reported plans.</a:t>
            </a:r>
            <a:br>
              <a:rPr lang="en-US"/>
            </a:br>
            <a:r>
              <a:rPr lang="en-US"/>
              <a:t>Contact source: David Venne, Director of Assessment, Curriculum, &amp; Instruction - Cluster 2, david.venne@rusd.org. Organization: RUSD. Operational ownership is not asserted.</a:t>
            </a:r>
            <a:endParaRPr/>
          </a:p>
        </p:txBody>
      </p:sp>
      <p:sp>
        <p:nvSpPr>
          <p:cNvPr id="309" name="Google Shape;309;p2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September 14, 2026 update, PDF David Venne_TechSpark Fellow_Update 20260915.pdf, p. 2, section “JA STEAM Girls.”</a:t>
            </a:r>
            <a:br>
              <a:rPr lang="en-US"/>
            </a:br>
            <a:r>
              <a:rPr lang="en-US"/>
              <a:t>Approximately 40 girls are currently enrolled. The program was revamped in summer 2026 to include emerging technology including AI, together with hands-on STEAM, real-world application, and career exploration. Enrollment and a program redesign are reported indicators, not evidence that all participants completed AI training or achieved measurable learning/career gains.</a:t>
            </a:r>
            <a:br>
              <a:rPr lang="en-US"/>
            </a:br>
            <a:r>
              <a:rPr lang="en-US"/>
              <a:t>No AI product names, detailed activities, documented safety/privacy controls, next-step dates, or operational next-step owner are supplied. All proposed follow-up items and safeguards are labeled Suggested / to confirm.</a:t>
            </a:r>
            <a:br>
              <a:rPr lang="en-US"/>
            </a:br>
            <a:r>
              <a:rPr lang="en-US"/>
              <a:t>Contact source: David Venne, Director of Assessment, Curriculum, &amp; Instruction - Cluster 2, david.venne@rusd.org; not an asserted operational owner.</a:t>
            </a:r>
            <a:endParaRPr/>
          </a:p>
        </p:txBody>
      </p:sp>
      <p:sp>
        <p:nvSpPr>
          <p:cNvPr id="345" name="Google Shape;345;p2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2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email “[EXTERNAL] A few TechSpark ‘Sparks’ =),” sent September 14, 2026 at 4:50 PM. PDF: David Venne_TechSpark Fellow_Update 20260915.pdf, p. 2, section “Racine Unified School Foundation - 501c3 (RUSF).” The PDF was printed September 15.</a:t>
            </a:r>
            <a:br>
              <a:rPr lang="en-US"/>
            </a:br>
            <a:r>
              <a:rPr lang="en-US"/>
              <a:t>Reported: a recently established 501(c)(3) organization connecting community/business partners with ways to support RUSD students and schools. Its intended purpose is to provide resources for innovative programs, student experiences, and opportunities beyond the traditional school budget. David describes it as still very new. The 501(c)(3) description is attributed to his update, not independent legal verification.</a:t>
            </a:r>
            <a:br>
              <a:rPr lang="en-US"/>
            </a:br>
            <a:r>
              <a:rPr lang="en-US"/>
              <a:t>This is a separate INNOVATION-ENABLING INITIATIVE, not a documented implemented AI use case. No deployed AI workflow, AI tool, AI funding allocation, dollar figure, delivered reach, or demonstrated impact is supplied. Intended support is not treated as delivered funding or measured benefit.</a:t>
            </a:r>
            <a:br>
              <a:rPr lang="en-US"/>
            </a:br>
            <a:r>
              <a:rPr lang="en-US"/>
              <a:t>Category is Institutional Innovation, explicitly qualified by the absence of documented AI use. Contact source: David Venne, Director of Assessment, Curriculum, &amp; Instruction - Cluster 2, david.venne@rusd.org; not an asserted operational owner of the foundation.</a:t>
            </a:r>
            <a:endParaRPr/>
          </a:p>
        </p:txBody>
      </p:sp>
      <p:sp>
        <p:nvSpPr>
          <p:cNvPr id="379" name="Google Shape;379;p2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Source: David Venne, September 14, 2026 update, PDF David Venne_TechSpark Fellow_Update 20260915.pdf, p. 2, section “Racine Unified School Foundation - 501c3 (RUSF).”</a:t>
            </a:r>
            <a:br>
              <a:rPr lang="en-US"/>
            </a:br>
            <a:r>
              <a:rPr lang="en-US"/>
              <a:t>The foundation is a very new innovation enabler intended to connect community/business support with RUSD students and schools. AI use is not documented. Its establishment and intended support are status/context, NOT measured impact. No dollars, funding delivered, AI allocation, reach count, or demonstrated impact are reported.</a:t>
            </a:r>
            <a:br>
              <a:rPr lang="en-US"/>
            </a:br>
            <a:r>
              <a:rPr lang="en-US"/>
              <a:t>The question about possible future AI support is explicitly an editorial Suggested / to confirm item, not David’s committed plan. No AI funding commitment, operational owner, or timetable is documented. Recommendations about governance, privacy, and human review are conditional on any future AI activity and do not imply that such activity or safeguards already exist.</a:t>
            </a:r>
            <a:br>
              <a:rPr lang="en-US"/>
            </a:br>
            <a:r>
              <a:rPr lang="en-US"/>
              <a:t>Contact source: David Venne, Director of Assessment, Curriculum, &amp; Instruction - Cluster 2, david.venne@rusd.org. Organization: RUSD (Racine Unified School District). No aggregate reach is calculated across initiatives.</a:t>
            </a:r>
            <a:endParaRPr/>
          </a:p>
        </p:txBody>
      </p:sp>
      <p:sp>
        <p:nvSpPr>
          <p:cNvPr id="415" name="Google Shape;415;p2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5B62"/>
        </a:solidFill>
      </p:bgPr>
    </p:bg>
    <p:spTree>
      <p:nvGrpSpPr>
        <p:cNvPr id="15" name="Shape 15"/>
        <p:cNvGrpSpPr/>
        <p:nvPr/>
      </p:nvGrpSpPr>
      <p:grpSpPr>
        <a:xfrm>
          <a:off x="0" y="0"/>
          <a:ext cx="0" cy="0"/>
          <a:chOff x="0" y="0"/>
          <a:chExt cx="0" cy="0"/>
        </a:xfrm>
      </p:grpSpPr>
      <p:sp>
        <p:nvSpPr>
          <p:cNvPr id="16" name="Google Shape;16;p1"/>
          <p:cNvSpPr/>
          <p:nvPr/>
        </p:nvSpPr>
        <p:spPr>
          <a:xfrm>
            <a:off x="548640" y="2011680"/>
            <a:ext cx="10972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B4E3"/>
              </a:buClr>
              <a:buSzPts val="1300"/>
              <a:buFont typeface="Quattrocento Sans"/>
              <a:buNone/>
            </a:pPr>
            <a:r>
              <a:rPr b="1" i="0" lang="en-US" sz="1400" u="none" cap="none" strike="noStrike">
                <a:solidFill>
                  <a:srgbClr val="C5B4E3"/>
                </a:solidFill>
                <a:latin typeface="Quattrocento Sans"/>
                <a:ea typeface="Quattrocento Sans"/>
                <a:cs typeface="Quattrocento Sans"/>
                <a:sym typeface="Quattrocento Sans"/>
              </a:rPr>
              <a:t>K12 AI Coalition | Southeast Wisconsin</a:t>
            </a:r>
            <a:endParaRPr b="1" i="0" sz="1400" u="none" cap="none" strike="noStrike">
              <a:solidFill>
                <a:schemeClr val="dk1"/>
              </a:solidFill>
              <a:latin typeface="Calibri"/>
              <a:ea typeface="Calibri"/>
              <a:cs typeface="Calibri"/>
              <a:sym typeface="Calibri"/>
            </a:endParaRPr>
          </a:p>
        </p:txBody>
      </p:sp>
      <p:sp>
        <p:nvSpPr>
          <p:cNvPr id="17" name="Google Shape;17;p1"/>
          <p:cNvSpPr/>
          <p:nvPr/>
        </p:nvSpPr>
        <p:spPr>
          <a:xfrm>
            <a:off x="548640" y="2499360"/>
            <a:ext cx="10972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800"/>
              <a:buFont typeface="Quattrocento Sans"/>
              <a:buNone/>
            </a:pPr>
            <a:r>
              <a:rPr b="1" i="0" lang="en-US" sz="2400" u="none" cap="none" strike="noStrike">
                <a:solidFill>
                  <a:srgbClr val="FFB900"/>
                </a:solidFill>
                <a:latin typeface="Quattrocento Sans"/>
                <a:ea typeface="Quattrocento Sans"/>
                <a:cs typeface="Quattrocento Sans"/>
                <a:sym typeface="Quattrocento Sans"/>
              </a:rPr>
              <a:t>AI SPARK WORKBOOK</a:t>
            </a:r>
            <a:endParaRPr b="1" i="0" sz="2400" u="none" cap="none" strike="noStrike">
              <a:solidFill>
                <a:schemeClr val="dk1"/>
              </a:solidFill>
              <a:latin typeface="Calibri"/>
              <a:ea typeface="Calibri"/>
              <a:cs typeface="Calibri"/>
              <a:sym typeface="Calibri"/>
            </a:endParaRPr>
          </a:p>
        </p:txBody>
      </p:sp>
      <p:sp>
        <p:nvSpPr>
          <p:cNvPr id="18" name="Google Shape;18;p1"/>
          <p:cNvSpPr/>
          <p:nvPr/>
        </p:nvSpPr>
        <p:spPr>
          <a:xfrm>
            <a:off x="548640" y="3139440"/>
            <a:ext cx="10972800" cy="14782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6000"/>
              <a:buFont typeface="Quattrocento Sans"/>
              <a:buNone/>
            </a:pPr>
            <a:r>
              <a:rPr b="1" i="0" lang="en-US" sz="4400" u="none" cap="none" strike="noStrike">
                <a:solidFill>
                  <a:srgbClr val="FFFFFF"/>
                </a:solidFill>
                <a:latin typeface="Quattrocento Sans"/>
                <a:ea typeface="Quattrocento Sans"/>
                <a:cs typeface="Quattrocento Sans"/>
                <a:sym typeface="Quattrocento Sans"/>
              </a:rPr>
              <a:t>RUSD AI Sparks</a:t>
            </a:r>
            <a:endParaRPr b="1" i="0" sz="4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4400" u="none" cap="none" strike="noStrike">
                <a:solidFill>
                  <a:srgbClr val="FFFFFF"/>
                </a:solidFill>
                <a:latin typeface="Quattrocento Sans"/>
                <a:ea typeface="Quattrocento Sans"/>
                <a:cs typeface="Quattrocento Sans"/>
                <a:sym typeface="Quattrocento Sans"/>
              </a:rPr>
              <a:t>David Venne</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548640" y="4892040"/>
            <a:ext cx="100584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C5B4E3"/>
                </a:solidFill>
                <a:latin typeface="Quattrocento Sans"/>
                <a:ea typeface="Quattrocento Sans"/>
                <a:cs typeface="Quattrocento Sans"/>
                <a:sym typeface="Quattrocento Sans"/>
              </a:rPr>
              <a:t>Five distinct initiatives, each in a two-page snapshot.</a:t>
            </a:r>
            <a:br>
              <a:rPr b="1" i="0" lang="en-US" sz="1400" u="none" cap="none" strike="noStrike">
                <a:solidFill>
                  <a:srgbClr val="C5B4E3"/>
                </a:solidFill>
                <a:latin typeface="Quattrocento Sans"/>
                <a:ea typeface="Quattrocento Sans"/>
                <a:cs typeface="Quattrocento Sans"/>
                <a:sym typeface="Quattrocento Sans"/>
              </a:rPr>
            </a:br>
            <a:r>
              <a:rPr b="1" i="0" lang="en-US" sz="1400" u="none" cap="none" strike="noStrike">
                <a:solidFill>
                  <a:srgbClr val="C5B4E3"/>
                </a:solidFill>
                <a:latin typeface="Quattrocento Sans"/>
                <a:ea typeface="Quattrocento Sans"/>
                <a:cs typeface="Quattrocento Sans"/>
                <a:sym typeface="Quattrocento Sans"/>
              </a:rPr>
              <a:t>The foundation is an innovation enabler; AI use is not documented.</a:t>
            </a:r>
            <a:endParaRPr b="1" i="0" sz="1400" u="none" cap="none" strike="noStrike">
              <a:solidFill>
                <a:schemeClr val="dk1"/>
              </a:solidFill>
              <a:latin typeface="Calibri"/>
              <a:ea typeface="Calibri"/>
              <a:cs typeface="Calibri"/>
              <a:sym typeface="Calibri"/>
            </a:endParaRPr>
          </a:p>
        </p:txBody>
      </p:sp>
      <p:sp>
        <p:nvSpPr>
          <p:cNvPr id="20" name="Google Shape;20;p1"/>
          <p:cNvSpPr/>
          <p:nvPr/>
        </p:nvSpPr>
        <p:spPr>
          <a:xfrm>
            <a:off x="548640" y="5684520"/>
            <a:ext cx="9601200" cy="685800"/>
          </a:xfrm>
          <a:prstGeom prst="rect">
            <a:avLst/>
          </a:prstGeom>
          <a:solidFill>
            <a:srgbClr val="16424A"/>
          </a:solidFill>
          <a:ln cap="flat" cmpd="sng" w="9525">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731520" y="5730240"/>
            <a:ext cx="92354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FFB900"/>
                </a:solidFill>
                <a:latin typeface="Quattrocento Sans"/>
                <a:ea typeface="Quattrocento Sans"/>
                <a:cs typeface="Quattrocento Sans"/>
                <a:sym typeface="Quattrocento Sans"/>
              </a:rPr>
              <a:t>Prepared By: David Venne</a:t>
            </a:r>
            <a:br>
              <a:rPr b="0" i="0" lang="en-US" sz="1400" u="none" cap="none" strike="noStrike">
                <a:solidFill>
                  <a:srgbClr val="FFB900"/>
                </a:solidFill>
                <a:latin typeface="Quattrocento Sans"/>
                <a:ea typeface="Quattrocento Sans"/>
                <a:cs typeface="Quattrocento Sans"/>
                <a:sym typeface="Quattrocento Sans"/>
              </a:rPr>
            </a:br>
            <a:r>
              <a:rPr b="0" i="0" lang="en-US" sz="1400" u="none" cap="none" strike="noStrike">
                <a:solidFill>
                  <a:srgbClr val="FFB900"/>
                </a:solidFill>
                <a:latin typeface="Quattrocento Sans"/>
                <a:ea typeface="Quattrocento Sans"/>
                <a:cs typeface="Quattrocento Sans"/>
                <a:sym typeface="Quattrocento Sans"/>
              </a:rPr>
              <a:t>Source: September 14, 2026 update</a:t>
            </a:r>
            <a:endParaRPr b="0" i="0" sz="1400" u="none" cap="none" strike="noStrike">
              <a:solidFill>
                <a:schemeClr val="dk1"/>
              </a:solidFill>
              <a:latin typeface="Quattrocento Sans"/>
              <a:ea typeface="Quattrocento Sans"/>
              <a:cs typeface="Quattrocento Sans"/>
              <a:sym typeface="Quattrocento Sans"/>
            </a:endParaRPr>
          </a:p>
        </p:txBody>
      </p:sp>
      <p:pic>
        <p:nvPicPr>
          <p:cNvPr descr="Microsoft logo, retained from the provided AI Spark Workbook template." id="22" name="Google Shape;22;p1"/>
          <p:cNvPicPr preferRelativeResize="0"/>
          <p:nvPr/>
        </p:nvPicPr>
        <p:blipFill rotWithShape="1">
          <a:blip r:embed="rId3">
            <a:alphaModFix/>
          </a:blip>
          <a:srcRect b="0" l="0" r="0" t="0"/>
          <a:stretch/>
        </p:blipFill>
        <p:spPr>
          <a:xfrm>
            <a:off x="457200" y="457200"/>
            <a:ext cx="4114800" cy="1512912"/>
          </a:xfrm>
          <a:prstGeom prst="rect">
            <a:avLst/>
          </a:prstGeom>
          <a:noFill/>
          <a:ln>
            <a:noFill/>
          </a:ln>
        </p:spPr>
      </p:pic>
      <p:pic>
        <p:nvPicPr>
          <p:cNvPr descr="Gateway Technical College logo, retained from the provided AI Spark Workbook template." id="23" name="Google Shape;23;p1"/>
          <p:cNvPicPr preferRelativeResize="0"/>
          <p:nvPr/>
        </p:nvPicPr>
        <p:blipFill rotWithShape="1">
          <a:blip r:embed="rId4">
            <a:alphaModFix/>
          </a:blip>
          <a:srcRect b="0" l="0" r="0" t="0"/>
          <a:stretch/>
        </p:blipFill>
        <p:spPr>
          <a:xfrm>
            <a:off x="5029200" y="640080"/>
            <a:ext cx="4705050" cy="1121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8" name="Shape 28"/>
        <p:cNvGrpSpPr/>
        <p:nvPr/>
      </p:nvGrpSpPr>
      <p:grpSpPr>
        <a:xfrm>
          <a:off x="0" y="0"/>
          <a:ext cx="0" cy="0"/>
          <a:chOff x="0" y="0"/>
          <a:chExt cx="0" cy="0"/>
        </a:xfrm>
      </p:grpSpPr>
      <p:sp>
        <p:nvSpPr>
          <p:cNvPr id="29" name="Google Shape;29;p14"/>
          <p:cNvSpPr/>
          <p:nvPr/>
        </p:nvSpPr>
        <p:spPr>
          <a:xfrm>
            <a:off x="457200" y="502920"/>
            <a:ext cx="73152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120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WORKBOOK AT A GLANCE</a:t>
            </a:r>
            <a:endParaRPr b="1" i="0" sz="1400" u="none" cap="none" strike="noStrike">
              <a:solidFill>
                <a:schemeClr val="dk1"/>
              </a:solidFill>
              <a:latin typeface="Calibri"/>
              <a:ea typeface="Calibri"/>
              <a:cs typeface="Calibri"/>
              <a:sym typeface="Calibri"/>
            </a:endParaRPr>
          </a:p>
        </p:txBody>
      </p:sp>
      <p:sp>
        <p:nvSpPr>
          <p:cNvPr id="30" name="Google Shape;30;p14"/>
          <p:cNvSpPr/>
          <p:nvPr/>
        </p:nvSpPr>
        <p:spPr>
          <a:xfrm>
            <a:off x="457200" y="868680"/>
            <a:ext cx="292608" cy="292608"/>
          </a:xfrm>
          <a:prstGeom prst="star4">
            <a:avLst>
              <a:gd fmla="val 12500" name="adj"/>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 name="Google Shape;31;p14"/>
          <p:cNvSpPr/>
          <p:nvPr/>
        </p:nvSpPr>
        <p:spPr>
          <a:xfrm>
            <a:off x="868680" y="868680"/>
            <a:ext cx="10866120" cy="6248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3200"/>
              <a:buFont typeface="Quattrocento Sans"/>
              <a:buNone/>
            </a:pPr>
            <a:r>
              <a:rPr b="1" i="0" lang="en-US" sz="3200" u="none" cap="none" strike="noStrike">
                <a:solidFill>
                  <a:srgbClr val="23201F"/>
                </a:solidFill>
                <a:latin typeface="Quattrocento Sans"/>
                <a:ea typeface="Quattrocento Sans"/>
                <a:cs typeface="Quattrocento Sans"/>
                <a:sym typeface="Quattrocento Sans"/>
              </a:rPr>
              <a:t>RUSD AI Spark inventory</a:t>
            </a:r>
            <a:endParaRPr b="1" i="0" sz="3200" u="none" cap="none" strike="noStrike">
              <a:solidFill>
                <a:schemeClr val="dk1"/>
              </a:solidFill>
              <a:latin typeface="Calibri"/>
              <a:ea typeface="Calibri"/>
              <a:cs typeface="Calibri"/>
              <a:sym typeface="Calibri"/>
            </a:endParaRPr>
          </a:p>
        </p:txBody>
      </p:sp>
      <p:sp>
        <p:nvSpPr>
          <p:cNvPr id="32" name="Google Shape;32;p14"/>
          <p:cNvSpPr/>
          <p:nvPr/>
        </p:nvSpPr>
        <p:spPr>
          <a:xfrm>
            <a:off x="457200" y="1584960"/>
            <a:ext cx="457200" cy="36576"/>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 name="Google Shape;33;p14"/>
          <p:cNvSpPr/>
          <p:nvPr/>
        </p:nvSpPr>
        <p:spPr>
          <a:xfrm>
            <a:off x="457200" y="1744980"/>
            <a:ext cx="112776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300"/>
              <a:buFont typeface="Quattrocento Sans"/>
              <a:buNone/>
            </a:pPr>
            <a:r>
              <a:rPr lang="en-US">
                <a:solidFill>
                  <a:srgbClr val="5C5450"/>
                </a:solidFill>
                <a:latin typeface="Quattrocento Sans"/>
                <a:ea typeface="Quattrocento Sans"/>
                <a:cs typeface="Quattrocento Sans"/>
                <a:sym typeface="Quattrocento Sans"/>
              </a:rPr>
              <a:t>Five Sparks driving AI, innovation, and new opportunities for RUSD students and staff. </a:t>
            </a:r>
            <a:endParaRPr b="0" i="0" sz="1400" u="none" cap="none" strike="noStrike">
              <a:solidFill>
                <a:schemeClr val="dk1"/>
              </a:solidFill>
              <a:latin typeface="Calibri"/>
              <a:ea typeface="Calibri"/>
              <a:cs typeface="Calibri"/>
              <a:sym typeface="Calibri"/>
            </a:endParaRPr>
          </a:p>
        </p:txBody>
      </p:sp>
      <p:sp>
        <p:nvSpPr>
          <p:cNvPr id="34" name="Google Shape;34;p14"/>
          <p:cNvSpPr/>
          <p:nvPr/>
        </p:nvSpPr>
        <p:spPr>
          <a:xfrm>
            <a:off x="457200" y="2194560"/>
            <a:ext cx="548640" cy="4572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 name="Google Shape;35;p14"/>
          <p:cNvSpPr/>
          <p:nvPr/>
        </p:nvSpPr>
        <p:spPr>
          <a:xfrm>
            <a:off x="502920" y="2247900"/>
            <a:ext cx="4572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t>
            </a:r>
            <a:endParaRPr b="1" i="0" sz="1400" u="none" cap="none" strike="noStrike">
              <a:solidFill>
                <a:schemeClr val="dk1"/>
              </a:solidFill>
              <a:latin typeface="Calibri"/>
              <a:ea typeface="Calibri"/>
              <a:cs typeface="Calibri"/>
              <a:sym typeface="Calibri"/>
            </a:endParaRPr>
          </a:p>
        </p:txBody>
      </p:sp>
      <p:sp>
        <p:nvSpPr>
          <p:cNvPr id="36" name="Google Shape;36;p14"/>
          <p:cNvSpPr/>
          <p:nvPr/>
        </p:nvSpPr>
        <p:spPr>
          <a:xfrm>
            <a:off x="1005840" y="2194560"/>
            <a:ext cx="4023360" cy="4572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14"/>
          <p:cNvSpPr/>
          <p:nvPr/>
        </p:nvSpPr>
        <p:spPr>
          <a:xfrm>
            <a:off x="1143000" y="2247900"/>
            <a:ext cx="37490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INITIATIVE</a:t>
            </a:r>
            <a:endParaRPr b="1" i="0" sz="1400" u="none" cap="none" strike="noStrike">
              <a:solidFill>
                <a:schemeClr val="dk1"/>
              </a:solidFill>
              <a:latin typeface="Calibri"/>
              <a:ea typeface="Calibri"/>
              <a:cs typeface="Calibri"/>
              <a:sym typeface="Calibri"/>
            </a:endParaRPr>
          </a:p>
        </p:txBody>
      </p:sp>
      <p:sp>
        <p:nvSpPr>
          <p:cNvPr id="38" name="Google Shape;38;p14"/>
          <p:cNvSpPr/>
          <p:nvPr/>
        </p:nvSpPr>
        <p:spPr>
          <a:xfrm>
            <a:off x="5029200" y="2194560"/>
            <a:ext cx="2468880" cy="4572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14"/>
          <p:cNvSpPr/>
          <p:nvPr/>
        </p:nvSpPr>
        <p:spPr>
          <a:xfrm>
            <a:off x="5166360" y="2247900"/>
            <a:ext cx="21945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CATEGORY</a:t>
            </a:r>
            <a:endParaRPr b="1" i="0" sz="1400" u="none" cap="none" strike="noStrike">
              <a:solidFill>
                <a:schemeClr val="dk1"/>
              </a:solidFill>
              <a:latin typeface="Calibri"/>
              <a:ea typeface="Calibri"/>
              <a:cs typeface="Calibri"/>
              <a:sym typeface="Calibri"/>
            </a:endParaRPr>
          </a:p>
        </p:txBody>
      </p:sp>
      <p:sp>
        <p:nvSpPr>
          <p:cNvPr id="40" name="Google Shape;40;p14"/>
          <p:cNvSpPr/>
          <p:nvPr/>
        </p:nvSpPr>
        <p:spPr>
          <a:xfrm>
            <a:off x="7498080" y="2194560"/>
            <a:ext cx="2865120" cy="4572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14"/>
          <p:cNvSpPr/>
          <p:nvPr/>
        </p:nvSpPr>
        <p:spPr>
          <a:xfrm>
            <a:off x="7635240" y="2247900"/>
            <a:ext cx="2590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REPORTED STATUS</a:t>
            </a:r>
            <a:endParaRPr b="1" i="0" sz="1400" u="none" cap="none" strike="noStrike">
              <a:solidFill>
                <a:schemeClr val="dk1"/>
              </a:solidFill>
              <a:latin typeface="Calibri"/>
              <a:ea typeface="Calibri"/>
              <a:cs typeface="Calibri"/>
              <a:sym typeface="Calibri"/>
            </a:endParaRPr>
          </a:p>
        </p:txBody>
      </p:sp>
      <p:sp>
        <p:nvSpPr>
          <p:cNvPr id="42" name="Google Shape;42;p14"/>
          <p:cNvSpPr/>
          <p:nvPr/>
        </p:nvSpPr>
        <p:spPr>
          <a:xfrm>
            <a:off x="10363200" y="2194560"/>
            <a:ext cx="1371600" cy="4572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p14"/>
          <p:cNvSpPr/>
          <p:nvPr/>
        </p:nvSpPr>
        <p:spPr>
          <a:xfrm>
            <a:off x="10500360" y="2247900"/>
            <a:ext cx="1097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PAGES</a:t>
            </a:r>
            <a:endParaRPr b="1" i="0" sz="1400" u="none" cap="none" strike="noStrike">
              <a:solidFill>
                <a:schemeClr val="dk1"/>
              </a:solidFill>
              <a:latin typeface="Calibri"/>
              <a:ea typeface="Calibri"/>
              <a:cs typeface="Calibri"/>
              <a:sym typeface="Calibri"/>
            </a:endParaRPr>
          </a:p>
        </p:txBody>
      </p:sp>
      <p:sp>
        <p:nvSpPr>
          <p:cNvPr id="44" name="Google Shape;44;p14"/>
          <p:cNvSpPr/>
          <p:nvPr/>
        </p:nvSpPr>
        <p:spPr>
          <a:xfrm>
            <a:off x="457200" y="2651760"/>
            <a:ext cx="54864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14"/>
          <p:cNvSpPr/>
          <p:nvPr/>
        </p:nvSpPr>
        <p:spPr>
          <a:xfrm>
            <a:off x="502920" y="2667000"/>
            <a:ext cx="4572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01</a:t>
            </a:r>
            <a:endParaRPr b="0" i="0" sz="1400" u="none" cap="none" strike="noStrike">
              <a:solidFill>
                <a:schemeClr val="dk1"/>
              </a:solidFill>
              <a:latin typeface="Calibri"/>
              <a:ea typeface="Calibri"/>
              <a:cs typeface="Calibri"/>
              <a:sym typeface="Calibri"/>
            </a:endParaRPr>
          </a:p>
        </p:txBody>
      </p:sp>
      <p:sp>
        <p:nvSpPr>
          <p:cNvPr id="46" name="Google Shape;46;p14"/>
          <p:cNvSpPr/>
          <p:nvPr/>
        </p:nvSpPr>
        <p:spPr>
          <a:xfrm>
            <a:off x="1005840" y="2651760"/>
            <a:ext cx="402336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 name="Google Shape;47;p14"/>
          <p:cNvSpPr/>
          <p:nvPr/>
        </p:nvSpPr>
        <p:spPr>
          <a:xfrm>
            <a:off x="1143000" y="2667000"/>
            <a:ext cx="37490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Hour of AI</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4th–6th Grade</a:t>
            </a:r>
            <a:endParaRPr b="0" i="0" sz="1400" u="none" cap="none" strike="noStrike">
              <a:solidFill>
                <a:schemeClr val="dk1"/>
              </a:solidFill>
              <a:latin typeface="Calibri"/>
              <a:ea typeface="Calibri"/>
              <a:cs typeface="Calibri"/>
              <a:sym typeface="Calibri"/>
            </a:endParaRPr>
          </a:p>
        </p:txBody>
      </p:sp>
      <p:sp>
        <p:nvSpPr>
          <p:cNvPr id="48" name="Google Shape;48;p14"/>
          <p:cNvSpPr/>
          <p:nvPr/>
        </p:nvSpPr>
        <p:spPr>
          <a:xfrm>
            <a:off x="5029200" y="2651760"/>
            <a:ext cx="246888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 name="Google Shape;49;p14"/>
          <p:cNvSpPr/>
          <p:nvPr/>
        </p:nvSpPr>
        <p:spPr>
          <a:xfrm>
            <a:off x="5166360" y="2667000"/>
            <a:ext cx="219456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Student</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Success</a:t>
            </a:r>
            <a:endParaRPr b="0" i="0" sz="1400" u="none" cap="none" strike="noStrike">
              <a:solidFill>
                <a:schemeClr val="dk1"/>
              </a:solidFill>
              <a:latin typeface="Calibri"/>
              <a:ea typeface="Calibri"/>
              <a:cs typeface="Calibri"/>
              <a:sym typeface="Calibri"/>
            </a:endParaRPr>
          </a:p>
        </p:txBody>
      </p:sp>
      <p:sp>
        <p:nvSpPr>
          <p:cNvPr id="50" name="Google Shape;50;p14"/>
          <p:cNvSpPr/>
          <p:nvPr/>
        </p:nvSpPr>
        <p:spPr>
          <a:xfrm>
            <a:off x="7498080" y="2651760"/>
            <a:ext cx="286512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 name="Google Shape;51;p14"/>
          <p:cNvSpPr/>
          <p:nvPr/>
        </p:nvSpPr>
        <p:spPr>
          <a:xfrm>
            <a:off x="7635240" y="2667000"/>
            <a:ext cx="25908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Delivered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Interest reported</a:t>
            </a:r>
            <a:endParaRPr b="0" i="0" sz="1400" u="none" cap="none" strike="noStrike">
              <a:solidFill>
                <a:schemeClr val="dk1"/>
              </a:solidFill>
              <a:latin typeface="Calibri"/>
              <a:ea typeface="Calibri"/>
              <a:cs typeface="Calibri"/>
              <a:sym typeface="Calibri"/>
            </a:endParaRPr>
          </a:p>
        </p:txBody>
      </p:sp>
      <p:sp>
        <p:nvSpPr>
          <p:cNvPr id="52" name="Google Shape;52;p14"/>
          <p:cNvSpPr/>
          <p:nvPr/>
        </p:nvSpPr>
        <p:spPr>
          <a:xfrm>
            <a:off x="10363200" y="2651760"/>
            <a:ext cx="137160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14"/>
          <p:cNvSpPr/>
          <p:nvPr/>
        </p:nvSpPr>
        <p:spPr>
          <a:xfrm>
            <a:off x="10500360" y="2667000"/>
            <a:ext cx="109728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03–04</a:t>
            </a:r>
            <a:endParaRPr b="0" i="0" sz="1400" u="none" cap="none" strike="noStrike">
              <a:solidFill>
                <a:schemeClr val="dk1"/>
              </a:solidFill>
              <a:latin typeface="Calibri"/>
              <a:ea typeface="Calibri"/>
              <a:cs typeface="Calibri"/>
              <a:sym typeface="Calibri"/>
            </a:endParaRPr>
          </a:p>
        </p:txBody>
      </p:sp>
      <p:sp>
        <p:nvSpPr>
          <p:cNvPr id="54" name="Google Shape;54;p14"/>
          <p:cNvSpPr/>
          <p:nvPr/>
        </p:nvSpPr>
        <p:spPr>
          <a:xfrm>
            <a:off x="457200" y="3246120"/>
            <a:ext cx="54864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4"/>
          <p:cNvSpPr/>
          <p:nvPr/>
        </p:nvSpPr>
        <p:spPr>
          <a:xfrm>
            <a:off x="502920" y="3261360"/>
            <a:ext cx="4572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02</a:t>
            </a:r>
            <a:endParaRPr b="0" i="0" sz="1400" u="none" cap="none" strike="noStrike">
              <a:solidFill>
                <a:schemeClr val="dk1"/>
              </a:solidFill>
              <a:latin typeface="Calibri"/>
              <a:ea typeface="Calibri"/>
              <a:cs typeface="Calibri"/>
              <a:sym typeface="Calibri"/>
            </a:endParaRPr>
          </a:p>
        </p:txBody>
      </p:sp>
      <p:sp>
        <p:nvSpPr>
          <p:cNvPr id="56" name="Google Shape;56;p14"/>
          <p:cNvSpPr/>
          <p:nvPr/>
        </p:nvSpPr>
        <p:spPr>
          <a:xfrm>
            <a:off x="1005840" y="3246120"/>
            <a:ext cx="402336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4"/>
          <p:cNvSpPr/>
          <p:nvPr/>
        </p:nvSpPr>
        <p:spPr>
          <a:xfrm>
            <a:off x="1143000" y="3261360"/>
            <a:ext cx="37490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District AI Team</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Policy, learning, rollout</a:t>
            </a:r>
            <a:endParaRPr b="0" i="0" sz="1400" u="none" cap="none" strike="noStrike">
              <a:solidFill>
                <a:schemeClr val="dk1"/>
              </a:solidFill>
              <a:latin typeface="Calibri"/>
              <a:ea typeface="Calibri"/>
              <a:cs typeface="Calibri"/>
              <a:sym typeface="Calibri"/>
            </a:endParaRPr>
          </a:p>
        </p:txBody>
      </p:sp>
      <p:sp>
        <p:nvSpPr>
          <p:cNvPr id="58" name="Google Shape;58;p14"/>
          <p:cNvSpPr/>
          <p:nvPr/>
        </p:nvSpPr>
        <p:spPr>
          <a:xfrm>
            <a:off x="5029200" y="3246120"/>
            <a:ext cx="246888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14"/>
          <p:cNvSpPr/>
          <p:nvPr/>
        </p:nvSpPr>
        <p:spPr>
          <a:xfrm>
            <a:off x="5166360" y="3261360"/>
            <a:ext cx="219456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Institutional</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Innovation</a:t>
            </a:r>
            <a:endParaRPr b="0" i="0" sz="1400" u="none" cap="none" strike="noStrike">
              <a:solidFill>
                <a:schemeClr val="dk1"/>
              </a:solidFill>
              <a:latin typeface="Calibri"/>
              <a:ea typeface="Calibri"/>
              <a:cs typeface="Calibri"/>
              <a:sym typeface="Calibri"/>
            </a:endParaRPr>
          </a:p>
        </p:txBody>
      </p:sp>
      <p:sp>
        <p:nvSpPr>
          <p:cNvPr id="60" name="Google Shape;60;p14"/>
          <p:cNvSpPr/>
          <p:nvPr/>
        </p:nvSpPr>
        <p:spPr>
          <a:xfrm>
            <a:off x="7498080" y="3246120"/>
            <a:ext cx="286512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14"/>
          <p:cNvSpPr/>
          <p:nvPr/>
        </p:nvSpPr>
        <p:spPr>
          <a:xfrm>
            <a:off x="7635240" y="3261360"/>
            <a:ext cx="25908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Active team</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Rollout beginning</a:t>
            </a:r>
            <a:endParaRPr b="0" i="0" sz="1400" u="none" cap="none" strike="noStrike">
              <a:solidFill>
                <a:schemeClr val="dk1"/>
              </a:solidFill>
              <a:latin typeface="Calibri"/>
              <a:ea typeface="Calibri"/>
              <a:cs typeface="Calibri"/>
              <a:sym typeface="Calibri"/>
            </a:endParaRPr>
          </a:p>
        </p:txBody>
      </p:sp>
      <p:sp>
        <p:nvSpPr>
          <p:cNvPr id="62" name="Google Shape;62;p14"/>
          <p:cNvSpPr/>
          <p:nvPr/>
        </p:nvSpPr>
        <p:spPr>
          <a:xfrm>
            <a:off x="10363200" y="3246120"/>
            <a:ext cx="137160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14"/>
          <p:cNvSpPr/>
          <p:nvPr/>
        </p:nvSpPr>
        <p:spPr>
          <a:xfrm>
            <a:off x="10500360" y="3261360"/>
            <a:ext cx="109728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05–06</a:t>
            </a:r>
            <a:endParaRPr b="0" i="0" sz="1400" u="none" cap="none" strike="noStrike">
              <a:solidFill>
                <a:schemeClr val="dk1"/>
              </a:solidFill>
              <a:latin typeface="Calibri"/>
              <a:ea typeface="Calibri"/>
              <a:cs typeface="Calibri"/>
              <a:sym typeface="Calibri"/>
            </a:endParaRPr>
          </a:p>
        </p:txBody>
      </p:sp>
      <p:sp>
        <p:nvSpPr>
          <p:cNvPr id="64" name="Google Shape;64;p14"/>
          <p:cNvSpPr/>
          <p:nvPr/>
        </p:nvSpPr>
        <p:spPr>
          <a:xfrm>
            <a:off x="457200" y="3840480"/>
            <a:ext cx="54864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 name="Google Shape;65;p14"/>
          <p:cNvSpPr/>
          <p:nvPr/>
        </p:nvSpPr>
        <p:spPr>
          <a:xfrm>
            <a:off x="502920" y="3855720"/>
            <a:ext cx="4572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03</a:t>
            </a:r>
            <a:endParaRPr b="0" i="0" sz="1400" u="none" cap="none" strike="noStrike">
              <a:solidFill>
                <a:schemeClr val="dk1"/>
              </a:solidFill>
              <a:latin typeface="Calibri"/>
              <a:ea typeface="Calibri"/>
              <a:cs typeface="Calibri"/>
              <a:sym typeface="Calibri"/>
            </a:endParaRPr>
          </a:p>
        </p:txBody>
      </p:sp>
      <p:sp>
        <p:nvSpPr>
          <p:cNvPr id="66" name="Google Shape;66;p14"/>
          <p:cNvSpPr/>
          <p:nvPr/>
        </p:nvSpPr>
        <p:spPr>
          <a:xfrm>
            <a:off x="1005840" y="3840480"/>
            <a:ext cx="402336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 name="Google Shape;67;p14"/>
          <p:cNvSpPr/>
          <p:nvPr/>
        </p:nvSpPr>
        <p:spPr>
          <a:xfrm>
            <a:off x="1143000" y="3855720"/>
            <a:ext cx="37490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NOVA Academy</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Grades 6–7 microschool</a:t>
            </a:r>
            <a:endParaRPr b="0" i="0" sz="1400" u="none" cap="none" strike="noStrike">
              <a:solidFill>
                <a:schemeClr val="dk1"/>
              </a:solidFill>
              <a:latin typeface="Calibri"/>
              <a:ea typeface="Calibri"/>
              <a:cs typeface="Calibri"/>
              <a:sym typeface="Calibri"/>
            </a:endParaRPr>
          </a:p>
        </p:txBody>
      </p:sp>
      <p:sp>
        <p:nvSpPr>
          <p:cNvPr id="68" name="Google Shape;68;p14"/>
          <p:cNvSpPr/>
          <p:nvPr/>
        </p:nvSpPr>
        <p:spPr>
          <a:xfrm>
            <a:off x="5029200" y="3840480"/>
            <a:ext cx="246888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p14"/>
          <p:cNvSpPr/>
          <p:nvPr/>
        </p:nvSpPr>
        <p:spPr>
          <a:xfrm>
            <a:off x="5166360" y="3855720"/>
            <a:ext cx="219456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Student</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Success</a:t>
            </a:r>
            <a:endParaRPr b="0" i="0" sz="1400" u="none" cap="none" strike="noStrike">
              <a:solidFill>
                <a:schemeClr val="dk1"/>
              </a:solidFill>
              <a:latin typeface="Calibri"/>
              <a:ea typeface="Calibri"/>
              <a:cs typeface="Calibri"/>
              <a:sym typeface="Calibri"/>
            </a:endParaRPr>
          </a:p>
        </p:txBody>
      </p:sp>
      <p:sp>
        <p:nvSpPr>
          <p:cNvPr id="70" name="Google Shape;70;p14"/>
          <p:cNvSpPr/>
          <p:nvPr/>
        </p:nvSpPr>
        <p:spPr>
          <a:xfrm>
            <a:off x="7498080" y="3840480"/>
            <a:ext cx="286512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4"/>
          <p:cNvSpPr/>
          <p:nvPr/>
        </p:nvSpPr>
        <p:spPr>
          <a:xfrm>
            <a:off x="7635240" y="3855720"/>
            <a:ext cx="25908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Launching</a:t>
            </a:r>
            <a:br>
              <a:rPr b="0" i="0" lang="en-US" sz="1400" u="none" cap="none" strike="noStrike">
                <a:solidFill>
                  <a:srgbClr val="23201F"/>
                </a:solidFill>
                <a:latin typeface="Quattrocento Sans"/>
                <a:ea typeface="Quattrocento Sans"/>
                <a:cs typeface="Quattrocento Sans"/>
                <a:sym typeface="Quattrocento Sans"/>
              </a:rPr>
            </a:br>
            <a:r>
              <a:rPr lang="en-US">
                <a:solidFill>
                  <a:srgbClr val="23201F"/>
                </a:solidFill>
                <a:latin typeface="Quattrocento Sans"/>
                <a:ea typeface="Quattrocento Sans"/>
                <a:cs typeface="Quattrocento Sans"/>
                <a:sym typeface="Quattrocento Sans"/>
              </a:rPr>
              <a:t>26 active students</a:t>
            </a:r>
            <a:endParaRPr b="0" i="0" sz="1400" u="none" cap="none" strike="noStrike">
              <a:solidFill>
                <a:schemeClr val="dk1"/>
              </a:solidFill>
              <a:latin typeface="Calibri"/>
              <a:ea typeface="Calibri"/>
              <a:cs typeface="Calibri"/>
              <a:sym typeface="Calibri"/>
            </a:endParaRPr>
          </a:p>
        </p:txBody>
      </p:sp>
      <p:sp>
        <p:nvSpPr>
          <p:cNvPr id="72" name="Google Shape;72;p14"/>
          <p:cNvSpPr/>
          <p:nvPr/>
        </p:nvSpPr>
        <p:spPr>
          <a:xfrm>
            <a:off x="10363200" y="3840480"/>
            <a:ext cx="137160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4"/>
          <p:cNvSpPr/>
          <p:nvPr/>
        </p:nvSpPr>
        <p:spPr>
          <a:xfrm>
            <a:off x="10500360" y="3855720"/>
            <a:ext cx="109728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07–08</a:t>
            </a:r>
            <a:endParaRPr b="0" i="0" sz="1400" u="none" cap="none" strike="noStrike">
              <a:solidFill>
                <a:schemeClr val="dk1"/>
              </a:solidFill>
              <a:latin typeface="Calibri"/>
              <a:ea typeface="Calibri"/>
              <a:cs typeface="Calibri"/>
              <a:sym typeface="Calibri"/>
            </a:endParaRPr>
          </a:p>
        </p:txBody>
      </p:sp>
      <p:sp>
        <p:nvSpPr>
          <p:cNvPr id="74" name="Google Shape;74;p14"/>
          <p:cNvSpPr/>
          <p:nvPr/>
        </p:nvSpPr>
        <p:spPr>
          <a:xfrm>
            <a:off x="457200" y="4434840"/>
            <a:ext cx="54864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4"/>
          <p:cNvSpPr/>
          <p:nvPr/>
        </p:nvSpPr>
        <p:spPr>
          <a:xfrm>
            <a:off x="502920" y="4450080"/>
            <a:ext cx="4572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04</a:t>
            </a:r>
            <a:endParaRPr b="0" i="0" sz="1400" u="none" cap="none" strike="noStrike">
              <a:solidFill>
                <a:schemeClr val="dk1"/>
              </a:solidFill>
              <a:latin typeface="Calibri"/>
              <a:ea typeface="Calibri"/>
              <a:cs typeface="Calibri"/>
              <a:sym typeface="Calibri"/>
            </a:endParaRPr>
          </a:p>
        </p:txBody>
      </p:sp>
      <p:sp>
        <p:nvSpPr>
          <p:cNvPr id="76" name="Google Shape;76;p14"/>
          <p:cNvSpPr/>
          <p:nvPr/>
        </p:nvSpPr>
        <p:spPr>
          <a:xfrm>
            <a:off x="1005840" y="4434840"/>
            <a:ext cx="402336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 name="Google Shape;77;p14"/>
          <p:cNvSpPr/>
          <p:nvPr/>
        </p:nvSpPr>
        <p:spPr>
          <a:xfrm>
            <a:off x="1143000" y="4450080"/>
            <a:ext cx="37490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JA STEAM Girls</a:t>
            </a:r>
            <a:br>
              <a:rPr b="0" i="0" lang="en-US" sz="1400" u="none" cap="none" strike="noStrike">
                <a:solidFill>
                  <a:srgbClr val="5C5450"/>
                </a:solidFill>
                <a:latin typeface="Quattrocento Sans"/>
                <a:ea typeface="Quattrocento Sans"/>
                <a:cs typeface="Quattrocento Sans"/>
                <a:sym typeface="Quattrocento Sans"/>
              </a:rPr>
            </a:br>
            <a:r>
              <a:rPr b="0" i="0" lang="en-US" sz="1400" u="none" cap="none" strike="noStrike">
                <a:solidFill>
                  <a:srgbClr val="5C5450"/>
                </a:solidFill>
                <a:latin typeface="Quattrocento Sans"/>
                <a:ea typeface="Quattrocento Sans"/>
                <a:cs typeface="Quattrocento Sans"/>
                <a:sym typeface="Quattrocento Sans"/>
              </a:rPr>
              <a:t>AI in hands-on STEAM</a:t>
            </a:r>
            <a:endParaRPr b="0" i="0" sz="1400" u="none" cap="none" strike="noStrike">
              <a:solidFill>
                <a:schemeClr val="dk1"/>
              </a:solidFill>
              <a:latin typeface="Calibri"/>
              <a:ea typeface="Calibri"/>
              <a:cs typeface="Calibri"/>
              <a:sym typeface="Calibri"/>
            </a:endParaRPr>
          </a:p>
        </p:txBody>
      </p:sp>
      <p:sp>
        <p:nvSpPr>
          <p:cNvPr id="78" name="Google Shape;78;p14"/>
          <p:cNvSpPr/>
          <p:nvPr/>
        </p:nvSpPr>
        <p:spPr>
          <a:xfrm>
            <a:off x="5029200" y="4434840"/>
            <a:ext cx="246888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p14"/>
          <p:cNvSpPr/>
          <p:nvPr/>
        </p:nvSpPr>
        <p:spPr>
          <a:xfrm>
            <a:off x="5166360" y="4450080"/>
            <a:ext cx="219456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Student</a:t>
            </a:r>
            <a:br>
              <a:rPr b="0" i="0" lang="en-US" sz="1400" u="none" cap="none" strike="noStrike">
                <a:solidFill>
                  <a:srgbClr val="5C5450"/>
                </a:solidFill>
                <a:latin typeface="Quattrocento Sans"/>
                <a:ea typeface="Quattrocento Sans"/>
                <a:cs typeface="Quattrocento Sans"/>
                <a:sym typeface="Quattrocento Sans"/>
              </a:rPr>
            </a:br>
            <a:r>
              <a:rPr b="0" i="0" lang="en-US" sz="1400" u="none" cap="none" strike="noStrike">
                <a:solidFill>
                  <a:srgbClr val="5C5450"/>
                </a:solidFill>
                <a:latin typeface="Quattrocento Sans"/>
                <a:ea typeface="Quattrocento Sans"/>
                <a:cs typeface="Quattrocento Sans"/>
                <a:sym typeface="Quattrocento Sans"/>
              </a:rPr>
              <a:t>Success</a:t>
            </a:r>
            <a:endParaRPr b="0" i="0" sz="1400" u="none" cap="none" strike="noStrike">
              <a:solidFill>
                <a:schemeClr val="dk1"/>
              </a:solidFill>
              <a:latin typeface="Calibri"/>
              <a:ea typeface="Calibri"/>
              <a:cs typeface="Calibri"/>
              <a:sym typeface="Calibri"/>
            </a:endParaRPr>
          </a:p>
        </p:txBody>
      </p:sp>
      <p:sp>
        <p:nvSpPr>
          <p:cNvPr id="80" name="Google Shape;80;p14"/>
          <p:cNvSpPr/>
          <p:nvPr/>
        </p:nvSpPr>
        <p:spPr>
          <a:xfrm>
            <a:off x="7498080" y="4434840"/>
            <a:ext cx="286512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 name="Google Shape;81;p14"/>
          <p:cNvSpPr/>
          <p:nvPr/>
        </p:nvSpPr>
        <p:spPr>
          <a:xfrm>
            <a:off x="7635240" y="4450080"/>
            <a:ext cx="25908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lang="en-US">
                <a:solidFill>
                  <a:srgbClr val="5C5450"/>
                </a:solidFill>
                <a:latin typeface="Quattrocento Sans"/>
                <a:ea typeface="Quattrocento Sans"/>
                <a:cs typeface="Quattrocento Sans"/>
                <a:sym typeface="Quattrocento Sans"/>
              </a:rPr>
              <a:t>Reimagined with 40 </a:t>
            </a:r>
            <a:r>
              <a:rPr lang="en-US">
                <a:solidFill>
                  <a:srgbClr val="5C5450"/>
                </a:solidFill>
                <a:latin typeface="Quattrocento Sans"/>
                <a:ea typeface="Quattrocento Sans"/>
                <a:cs typeface="Quattrocento Sans"/>
                <a:sym typeface="Quattrocento Sans"/>
              </a:rPr>
              <a:t>current</a:t>
            </a:r>
            <a:r>
              <a:rPr lang="en-US">
                <a:solidFill>
                  <a:srgbClr val="5C5450"/>
                </a:solidFill>
                <a:latin typeface="Quattrocento Sans"/>
                <a:ea typeface="Quattrocento Sans"/>
                <a:cs typeface="Quattrocento Sans"/>
                <a:sym typeface="Quattrocento Sans"/>
              </a:rPr>
              <a:t> students</a:t>
            </a:r>
            <a:endParaRPr b="0" i="0" sz="1400" u="none" cap="none" strike="noStrike">
              <a:solidFill>
                <a:schemeClr val="dk1"/>
              </a:solidFill>
              <a:latin typeface="Calibri"/>
              <a:ea typeface="Calibri"/>
              <a:cs typeface="Calibri"/>
              <a:sym typeface="Calibri"/>
            </a:endParaRPr>
          </a:p>
        </p:txBody>
      </p:sp>
      <p:sp>
        <p:nvSpPr>
          <p:cNvPr id="82" name="Google Shape;82;p14"/>
          <p:cNvSpPr/>
          <p:nvPr/>
        </p:nvSpPr>
        <p:spPr>
          <a:xfrm>
            <a:off x="10363200" y="4434840"/>
            <a:ext cx="1371600" cy="594360"/>
          </a:xfrm>
          <a:prstGeom prst="rect">
            <a:avLst/>
          </a:prstGeom>
          <a:solidFill>
            <a:srgbClr val="F7F6F1"/>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0500360" y="4450080"/>
            <a:ext cx="109728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09–10</a:t>
            </a:r>
            <a:endParaRPr b="0" i="0" sz="1400" u="none" cap="none" strike="noStrike">
              <a:solidFill>
                <a:schemeClr val="dk1"/>
              </a:solidFill>
              <a:latin typeface="Calibri"/>
              <a:ea typeface="Calibri"/>
              <a:cs typeface="Calibri"/>
              <a:sym typeface="Calibri"/>
            </a:endParaRPr>
          </a:p>
        </p:txBody>
      </p:sp>
      <p:sp>
        <p:nvSpPr>
          <p:cNvPr id="84" name="Google Shape;84;p14"/>
          <p:cNvSpPr/>
          <p:nvPr/>
        </p:nvSpPr>
        <p:spPr>
          <a:xfrm>
            <a:off x="457200" y="5029200"/>
            <a:ext cx="54864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14"/>
          <p:cNvSpPr/>
          <p:nvPr/>
        </p:nvSpPr>
        <p:spPr>
          <a:xfrm>
            <a:off x="502920" y="5044440"/>
            <a:ext cx="4572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05</a:t>
            </a:r>
            <a:endParaRPr b="0" i="0" sz="1400" u="none" cap="none" strike="noStrike">
              <a:solidFill>
                <a:schemeClr val="dk1"/>
              </a:solidFill>
              <a:latin typeface="Calibri"/>
              <a:ea typeface="Calibri"/>
              <a:cs typeface="Calibri"/>
              <a:sym typeface="Calibri"/>
            </a:endParaRPr>
          </a:p>
        </p:txBody>
      </p:sp>
      <p:sp>
        <p:nvSpPr>
          <p:cNvPr id="86" name="Google Shape;86;p14"/>
          <p:cNvSpPr/>
          <p:nvPr/>
        </p:nvSpPr>
        <p:spPr>
          <a:xfrm>
            <a:off x="1005840" y="5029200"/>
            <a:ext cx="402336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p:nvPr/>
        </p:nvSpPr>
        <p:spPr>
          <a:xfrm>
            <a:off x="1143000" y="5044440"/>
            <a:ext cx="374904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Racine Unified School</a:t>
            </a:r>
            <a:br>
              <a:rPr b="0" i="0" lang="en-US" sz="1400" u="none" cap="none" strike="noStrike">
                <a:solidFill>
                  <a:srgbClr val="5C5450"/>
                </a:solidFill>
                <a:latin typeface="Quattrocento Sans"/>
                <a:ea typeface="Quattrocento Sans"/>
                <a:cs typeface="Quattrocento Sans"/>
                <a:sym typeface="Quattrocento Sans"/>
              </a:rPr>
            </a:br>
            <a:r>
              <a:rPr b="0" i="0" lang="en-US" sz="1400" u="none" cap="none" strike="noStrike">
                <a:solidFill>
                  <a:srgbClr val="5C5450"/>
                </a:solidFill>
                <a:latin typeface="Quattrocento Sans"/>
                <a:ea typeface="Quattrocento Sans"/>
                <a:cs typeface="Quattrocento Sans"/>
                <a:sym typeface="Quattrocento Sans"/>
              </a:rPr>
              <a:t>Foundation (RUSF)</a:t>
            </a:r>
            <a:endParaRPr b="0" i="0" sz="1400" u="none" cap="none" strike="noStrike">
              <a:solidFill>
                <a:schemeClr val="dk1"/>
              </a:solidFill>
              <a:latin typeface="Calibri"/>
              <a:ea typeface="Calibri"/>
              <a:cs typeface="Calibri"/>
              <a:sym typeface="Calibri"/>
            </a:endParaRPr>
          </a:p>
        </p:txBody>
      </p:sp>
      <p:sp>
        <p:nvSpPr>
          <p:cNvPr id="88" name="Google Shape;88;p14"/>
          <p:cNvSpPr/>
          <p:nvPr/>
        </p:nvSpPr>
        <p:spPr>
          <a:xfrm>
            <a:off x="5029200" y="5029200"/>
            <a:ext cx="246888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4"/>
          <p:cNvSpPr/>
          <p:nvPr/>
        </p:nvSpPr>
        <p:spPr>
          <a:xfrm>
            <a:off x="5166360" y="5044440"/>
            <a:ext cx="219456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Institutional</a:t>
            </a:r>
            <a:br>
              <a:rPr b="0" i="0" lang="en-US" sz="1400" u="none" cap="none" strike="noStrike">
                <a:solidFill>
                  <a:srgbClr val="5C5450"/>
                </a:solidFill>
                <a:latin typeface="Quattrocento Sans"/>
                <a:ea typeface="Quattrocento Sans"/>
                <a:cs typeface="Quattrocento Sans"/>
                <a:sym typeface="Quattrocento Sans"/>
              </a:rPr>
            </a:br>
            <a:r>
              <a:rPr b="0" i="0" lang="en-US" sz="1400" u="none" cap="none" strike="noStrike">
                <a:solidFill>
                  <a:srgbClr val="5C5450"/>
                </a:solidFill>
                <a:latin typeface="Quattrocento Sans"/>
                <a:ea typeface="Quattrocento Sans"/>
                <a:cs typeface="Quattrocento Sans"/>
                <a:sym typeface="Quattrocento Sans"/>
              </a:rPr>
              <a:t>Innovation</a:t>
            </a:r>
            <a:endParaRPr b="0" i="0" sz="1400" u="none" cap="none" strike="noStrike">
              <a:solidFill>
                <a:schemeClr val="dk1"/>
              </a:solidFill>
              <a:latin typeface="Calibri"/>
              <a:ea typeface="Calibri"/>
              <a:cs typeface="Calibri"/>
              <a:sym typeface="Calibri"/>
            </a:endParaRPr>
          </a:p>
        </p:txBody>
      </p:sp>
      <p:sp>
        <p:nvSpPr>
          <p:cNvPr id="90" name="Google Shape;90;p14"/>
          <p:cNvSpPr/>
          <p:nvPr/>
        </p:nvSpPr>
        <p:spPr>
          <a:xfrm>
            <a:off x="7498080" y="5029200"/>
            <a:ext cx="286512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14"/>
          <p:cNvSpPr/>
          <p:nvPr/>
        </p:nvSpPr>
        <p:spPr>
          <a:xfrm>
            <a:off x="7635240" y="5044440"/>
            <a:ext cx="259080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Newly launched</a:t>
            </a:r>
            <a:r>
              <a:rPr lang="en-US">
                <a:solidFill>
                  <a:srgbClr val="5C5450"/>
                </a:solidFill>
                <a:latin typeface="Quattrocento Sans"/>
                <a:ea typeface="Quattrocento Sans"/>
                <a:cs typeface="Quattrocento Sans"/>
                <a:sym typeface="Quattrocento Sans"/>
              </a:rPr>
              <a:t> foundation </a:t>
            </a:r>
            <a:endParaRPr b="0" i="0" sz="1400" u="none" cap="none" strike="noStrike">
              <a:solidFill>
                <a:schemeClr val="dk1"/>
              </a:solidFill>
              <a:latin typeface="Calibri"/>
              <a:ea typeface="Calibri"/>
              <a:cs typeface="Calibri"/>
              <a:sym typeface="Calibri"/>
            </a:endParaRPr>
          </a:p>
        </p:txBody>
      </p:sp>
      <p:sp>
        <p:nvSpPr>
          <p:cNvPr id="92" name="Google Shape;92;p14"/>
          <p:cNvSpPr/>
          <p:nvPr/>
        </p:nvSpPr>
        <p:spPr>
          <a:xfrm>
            <a:off x="10363200" y="5029200"/>
            <a:ext cx="1371600" cy="594360"/>
          </a:xfrm>
          <a:prstGeom prst="rect">
            <a:avLst/>
          </a:prstGeom>
          <a:solidFill>
            <a:srgbClr val="FFFFFF"/>
          </a:solidFill>
          <a:ln cap="flat" cmpd="sng" w="9525">
            <a:solidFill>
              <a:srgbClr val="E3E0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p:nvPr/>
        </p:nvSpPr>
        <p:spPr>
          <a:xfrm>
            <a:off x="10500360" y="5044440"/>
            <a:ext cx="1097280" cy="563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1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11–12</a:t>
            </a:r>
            <a:endParaRPr b="0" i="0" sz="1400" u="none" cap="none" strike="noStrike">
              <a:solidFill>
                <a:schemeClr val="dk1"/>
              </a:solidFill>
              <a:latin typeface="Calibri"/>
              <a:ea typeface="Calibri"/>
              <a:cs typeface="Calibri"/>
              <a:sym typeface="Calibri"/>
            </a:endParaRPr>
          </a:p>
        </p:txBody>
      </p:sp>
      <p:sp>
        <p:nvSpPr>
          <p:cNvPr id="94" name="Google Shape;94;p14"/>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Source: David Venne • September 14, 2026 • PDF pp. 1–2</a:t>
            </a:r>
            <a:endParaRPr b="0" i="0" sz="1400" u="none" cap="none" strike="noStrike">
              <a:solidFill>
                <a:schemeClr val="dk1"/>
              </a:solidFill>
              <a:latin typeface="Calibri"/>
              <a:ea typeface="Calibri"/>
              <a:cs typeface="Calibri"/>
              <a:sym typeface="Calibri"/>
            </a:endParaRPr>
          </a:p>
        </p:txBody>
      </p:sp>
      <p:sp>
        <p:nvSpPr>
          <p:cNvPr id="95" name="Google Shape;95;p14"/>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02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00" name="Shape 100"/>
        <p:cNvGrpSpPr/>
        <p:nvPr/>
      </p:nvGrpSpPr>
      <p:grpSpPr>
        <a:xfrm>
          <a:off x="0" y="0"/>
          <a:ext cx="0" cy="0"/>
          <a:chOff x="0" y="0"/>
          <a:chExt cx="0" cy="0"/>
        </a:xfrm>
      </p:grpSpPr>
      <p:sp>
        <p:nvSpPr>
          <p:cNvPr id="101" name="Google Shape;101;p2"/>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01 (PAGE 1 OF 2)</a:t>
            </a:r>
            <a:endParaRPr b="1" i="0" sz="1400" u="none" cap="none" strike="noStrike">
              <a:solidFill>
                <a:schemeClr val="dk1"/>
              </a:solidFill>
              <a:latin typeface="Calibri"/>
              <a:ea typeface="Calibri"/>
              <a:cs typeface="Calibri"/>
              <a:sym typeface="Calibri"/>
            </a:endParaRPr>
          </a:p>
        </p:txBody>
      </p:sp>
      <p:sp>
        <p:nvSpPr>
          <p:cNvPr id="103" name="Google Shape;103;p2"/>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Hour of AI | 4th–6th Grade</a:t>
            </a:r>
            <a:endParaRPr b="1" i="0" sz="2400" u="none" cap="none" strike="noStrike">
              <a:solidFill>
                <a:schemeClr val="dk1"/>
              </a:solidFill>
              <a:latin typeface="Calibri"/>
              <a:ea typeface="Calibri"/>
              <a:cs typeface="Calibri"/>
              <a:sym typeface="Calibri"/>
            </a:endParaRPr>
          </a:p>
        </p:txBody>
      </p:sp>
      <p:sp>
        <p:nvSpPr>
          <p:cNvPr id="104" name="Google Shape;104;p2"/>
          <p:cNvSpPr/>
          <p:nvPr/>
        </p:nvSpPr>
        <p:spPr>
          <a:xfrm>
            <a:off x="9540240" y="731520"/>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p:nvPr/>
        </p:nvSpPr>
        <p:spPr>
          <a:xfrm>
            <a:off x="9540240" y="731520"/>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
        <p:nvSpPr>
          <p:cNvPr id="106" name="Google Shape;106;p2"/>
          <p:cNvSpPr/>
          <p:nvPr/>
        </p:nvSpPr>
        <p:spPr>
          <a:xfrm>
            <a:off x="45720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p:nvPr/>
        </p:nvSpPr>
        <p:spPr>
          <a:xfrm>
            <a:off x="62179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500" u="none" cap="none" strike="noStrike">
                <a:solidFill>
                  <a:srgbClr val="7B4F9E"/>
                </a:solidFill>
                <a:latin typeface="Quattrocento Sans"/>
                <a:ea typeface="Quattrocento Sans"/>
                <a:cs typeface="Quattrocento Sans"/>
                <a:sym typeface="Quattrocento Sans"/>
              </a:rPr>
              <a:t>ORGANIZATION</a:t>
            </a:r>
            <a:endParaRPr b="1" i="0" sz="1500" u="none" cap="none" strike="noStrike">
              <a:solidFill>
                <a:schemeClr val="dk1"/>
              </a:solidFill>
              <a:latin typeface="Calibri"/>
              <a:ea typeface="Calibri"/>
              <a:cs typeface="Calibri"/>
              <a:sym typeface="Calibri"/>
            </a:endParaRPr>
          </a:p>
        </p:txBody>
      </p:sp>
      <p:sp>
        <p:nvSpPr>
          <p:cNvPr id="108" name="Google Shape;108;p2"/>
          <p:cNvSpPr/>
          <p:nvPr/>
        </p:nvSpPr>
        <p:spPr>
          <a:xfrm>
            <a:off x="62179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RUSD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Grades 4–6</a:t>
            </a:r>
            <a:endParaRPr b="0" i="0" sz="1400" u="none" cap="none" strike="noStrike">
              <a:solidFill>
                <a:schemeClr val="dk1"/>
              </a:solidFill>
              <a:latin typeface="Calibri"/>
              <a:ea typeface="Calibri"/>
              <a:cs typeface="Calibri"/>
              <a:sym typeface="Calibri"/>
            </a:endParaRPr>
          </a:p>
        </p:txBody>
      </p:sp>
      <p:sp>
        <p:nvSpPr>
          <p:cNvPr id="109" name="Google Shape;109;p2"/>
          <p:cNvSpPr/>
          <p:nvPr/>
        </p:nvSpPr>
        <p:spPr>
          <a:xfrm>
            <a:off x="333756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p:nvPr/>
        </p:nvSpPr>
        <p:spPr>
          <a:xfrm>
            <a:off x="350215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CONTACT SOURCE</a:t>
            </a:r>
            <a:endParaRPr b="1" i="0" sz="1400" u="none" cap="none" strike="noStrike">
              <a:solidFill>
                <a:schemeClr val="dk1"/>
              </a:solidFill>
              <a:latin typeface="Calibri"/>
              <a:ea typeface="Calibri"/>
              <a:cs typeface="Calibri"/>
              <a:sym typeface="Calibri"/>
            </a:endParaRPr>
          </a:p>
        </p:txBody>
      </p:sp>
      <p:sp>
        <p:nvSpPr>
          <p:cNvPr id="111" name="Google Shape;111;p2"/>
          <p:cNvSpPr/>
          <p:nvPr/>
        </p:nvSpPr>
        <p:spPr>
          <a:xfrm>
            <a:off x="350215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David Venne</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Arial"/>
                <a:ea typeface="Arial"/>
                <a:cs typeface="Arial"/>
                <a:sym typeface="Arial"/>
              </a:rPr>
              <a:t>david.venne@rusd.org</a:t>
            </a:r>
            <a:endParaRPr b="0" i="0" sz="1400" u="none" cap="none" strike="noStrike">
              <a:solidFill>
                <a:schemeClr val="dk1"/>
              </a:solidFill>
              <a:latin typeface="Calibri"/>
              <a:ea typeface="Calibri"/>
              <a:cs typeface="Calibri"/>
              <a:sym typeface="Calibri"/>
            </a:endParaRPr>
          </a:p>
        </p:txBody>
      </p:sp>
      <p:sp>
        <p:nvSpPr>
          <p:cNvPr id="112" name="Google Shape;112;p2"/>
          <p:cNvSpPr/>
          <p:nvPr/>
        </p:nvSpPr>
        <p:spPr>
          <a:xfrm>
            <a:off x="621792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p:nvPr/>
        </p:nvSpPr>
        <p:spPr>
          <a:xfrm>
            <a:off x="638251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DATE IMPLEMENTED</a:t>
            </a:r>
            <a:endParaRPr b="1" i="0" sz="1400" u="none" cap="none" strike="noStrike">
              <a:solidFill>
                <a:schemeClr val="dk1"/>
              </a:solidFill>
              <a:latin typeface="Calibri"/>
              <a:ea typeface="Calibri"/>
              <a:cs typeface="Calibri"/>
              <a:sym typeface="Calibri"/>
            </a:endParaRPr>
          </a:p>
        </p:txBody>
      </p:sp>
      <p:sp>
        <p:nvSpPr>
          <p:cNvPr id="114" name="Google Shape;114;p2"/>
          <p:cNvSpPr/>
          <p:nvPr/>
        </p:nvSpPr>
        <p:spPr>
          <a:xfrm>
            <a:off x="638251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23201F"/>
                </a:solidFill>
                <a:latin typeface="Quattrocento Sans"/>
                <a:ea typeface="Quattrocento Sans"/>
                <a:cs typeface="Quattrocento Sans"/>
                <a:sym typeface="Quattrocento Sans"/>
              </a:rPr>
              <a:t>Winter/Spring 2026</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909828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p:nvPr/>
        </p:nvSpPr>
        <p:spPr>
          <a:xfrm>
            <a:off x="926287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STATUS</a:t>
            </a:r>
            <a:endParaRPr b="1" i="0" sz="1400" u="none" cap="none" strike="noStrike">
              <a:solidFill>
                <a:schemeClr val="dk1"/>
              </a:solidFill>
              <a:latin typeface="Calibri"/>
              <a:ea typeface="Calibri"/>
              <a:cs typeface="Calibri"/>
              <a:sym typeface="Calibri"/>
            </a:endParaRPr>
          </a:p>
        </p:txBody>
      </p:sp>
      <p:sp>
        <p:nvSpPr>
          <p:cNvPr id="117" name="Google Shape;117;p2"/>
          <p:cNvSpPr/>
          <p:nvPr/>
        </p:nvSpPr>
        <p:spPr>
          <a:xfrm>
            <a:off x="926287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Delivered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Across RUSD</a:t>
            </a:r>
            <a:endParaRPr b="0" i="0" sz="1400" u="none" cap="none" strike="noStrike">
              <a:solidFill>
                <a:schemeClr val="dk1"/>
              </a:solidFill>
              <a:latin typeface="Calibri"/>
              <a:ea typeface="Calibri"/>
              <a:cs typeface="Calibri"/>
              <a:sym typeface="Calibri"/>
            </a:endParaRPr>
          </a:p>
        </p:txBody>
      </p:sp>
      <p:sp>
        <p:nvSpPr>
          <p:cNvPr id="118" name="Google Shape;118;p2"/>
          <p:cNvSpPr/>
          <p:nvPr/>
        </p:nvSpPr>
        <p:spPr>
          <a:xfrm>
            <a:off x="457200" y="2971800"/>
            <a:ext cx="562356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p:nvPr/>
        </p:nvSpPr>
        <p:spPr>
          <a:xfrm>
            <a:off x="457200" y="2971800"/>
            <a:ext cx="5623560" cy="35052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p:nvPr/>
        </p:nvSpPr>
        <p:spPr>
          <a:xfrm>
            <a:off x="640080" y="297180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2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THE CHALLENGE</a:t>
            </a:r>
            <a:endParaRPr b="1" i="0" sz="1400" u="none" cap="none" strike="noStrike">
              <a:solidFill>
                <a:schemeClr val="dk1"/>
              </a:solidFill>
              <a:latin typeface="Calibri"/>
              <a:ea typeface="Calibri"/>
              <a:cs typeface="Calibri"/>
              <a:sym typeface="Calibri"/>
            </a:endParaRPr>
          </a:p>
        </p:txBody>
      </p:sp>
      <p:sp>
        <p:nvSpPr>
          <p:cNvPr id="121" name="Google Shape;121;p2"/>
          <p:cNvSpPr/>
          <p:nvPr/>
        </p:nvSpPr>
        <p:spPr>
          <a:xfrm>
            <a:off x="640080" y="341376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Give students hands-on experiences to explore AI, understand its possibilities and limitations, and use it as a tool for learning, creating, and solving problems. </a:t>
            </a:r>
            <a:endParaRPr b="0" i="0" sz="1400" u="none" cap="none" strike="noStrike">
              <a:solidFill>
                <a:schemeClr val="dk1"/>
              </a:solidFill>
              <a:latin typeface="Calibri"/>
              <a:ea typeface="Calibri"/>
              <a:cs typeface="Calibri"/>
              <a:sym typeface="Calibri"/>
            </a:endParaRPr>
          </a:p>
        </p:txBody>
      </p:sp>
      <p:sp>
        <p:nvSpPr>
          <p:cNvPr id="122" name="Google Shape;122;p2"/>
          <p:cNvSpPr/>
          <p:nvPr/>
        </p:nvSpPr>
        <p:spPr>
          <a:xfrm>
            <a:off x="6263640" y="2971800"/>
            <a:ext cx="544068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2"/>
          <p:cNvSpPr/>
          <p:nvPr/>
        </p:nvSpPr>
        <p:spPr>
          <a:xfrm>
            <a:off x="6263640" y="297180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p:nvPr/>
        </p:nvSpPr>
        <p:spPr>
          <a:xfrm>
            <a:off x="6446520" y="297180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THE SOLUTION</a:t>
            </a:r>
            <a:endParaRPr b="1" i="0" sz="1400" u="none" cap="none" strike="noStrike">
              <a:solidFill>
                <a:schemeClr val="dk1"/>
              </a:solidFill>
              <a:latin typeface="Calibri"/>
              <a:ea typeface="Calibri"/>
              <a:cs typeface="Calibri"/>
              <a:sym typeface="Calibri"/>
            </a:endParaRPr>
          </a:p>
        </p:txBody>
      </p:sp>
      <p:sp>
        <p:nvSpPr>
          <p:cNvPr id="125" name="Google Shape;125;p2"/>
          <p:cNvSpPr/>
          <p:nvPr/>
        </p:nvSpPr>
        <p:spPr>
          <a:xfrm>
            <a:off x="6446520" y="3358676"/>
            <a:ext cx="512070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Students explored AI through hands-on experiences designed to help them learn, analyze information, brainstorm ideas, and understand how AI can support their work. RUSD staff experienced the learning alongside students, building a shared understanding of AI and its possibilities. </a:t>
            </a:r>
            <a:endParaRPr b="0" i="0" sz="1400" u="none" cap="none" strike="noStrike">
              <a:solidFill>
                <a:schemeClr val="dk1"/>
              </a:solidFill>
              <a:latin typeface="Calibri"/>
              <a:ea typeface="Calibri"/>
              <a:cs typeface="Calibri"/>
              <a:sym typeface="Calibri"/>
            </a:endParaRPr>
          </a:p>
        </p:txBody>
      </p:sp>
      <p:sp>
        <p:nvSpPr>
          <p:cNvPr id="126" name="Google Shape;126;p2"/>
          <p:cNvSpPr/>
          <p:nvPr/>
        </p:nvSpPr>
        <p:spPr>
          <a:xfrm>
            <a:off x="457200" y="4770120"/>
            <a:ext cx="11247120" cy="1143000"/>
          </a:xfrm>
          <a:prstGeom prst="roundRect">
            <a:avLst>
              <a:gd fmla="val 5714"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p:nvPr/>
        </p:nvSpPr>
        <p:spPr>
          <a:xfrm>
            <a:off x="457200" y="4770120"/>
            <a:ext cx="137160" cy="114300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p:nvPr/>
        </p:nvSpPr>
        <p:spPr>
          <a:xfrm>
            <a:off x="777240" y="481584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AI TOOLS &amp; PLATFORMS USED</a:t>
            </a:r>
            <a:endParaRPr b="1" i="0" sz="1400" u="none" cap="none" strike="noStrike">
              <a:solidFill>
                <a:schemeClr val="dk1"/>
              </a:solidFill>
              <a:latin typeface="Calibri"/>
              <a:ea typeface="Calibri"/>
              <a:cs typeface="Calibri"/>
              <a:sym typeface="Calibri"/>
            </a:endParaRPr>
          </a:p>
        </p:txBody>
      </p:sp>
      <p:sp>
        <p:nvSpPr>
          <p:cNvPr id="129" name="Google Shape;129;p2"/>
          <p:cNvSpPr/>
          <p:nvPr/>
        </p:nvSpPr>
        <p:spPr>
          <a:xfrm>
            <a:off x="777240" y="521208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solidFill>
                  <a:srgbClr val="23201F"/>
                </a:solidFill>
                <a:latin typeface="Quattrocento Sans"/>
                <a:ea typeface="Quattrocento Sans"/>
                <a:cs typeface="Quattrocento Sans"/>
                <a:sym typeface="Quattrocento Sans"/>
              </a:rPr>
              <a:t>Unplugged AI challenges, including custom prompts, lock boxes, and puzzles, gave students a hands-on way to explore how AI works without needing a device. </a:t>
            </a:r>
            <a:endParaRPr b="0" i="0" sz="1400" u="none" cap="none" strike="noStrike">
              <a:solidFill>
                <a:srgbClr val="23201F"/>
              </a:solidFill>
              <a:latin typeface="Quattrocento Sans"/>
              <a:ea typeface="Quattrocento Sans"/>
              <a:cs typeface="Quattrocento Sans"/>
              <a:sym typeface="Quattrocento Sans"/>
            </a:endParaRPr>
          </a:p>
        </p:txBody>
      </p:sp>
      <p:sp>
        <p:nvSpPr>
          <p:cNvPr id="130" name="Google Shape;130;p2"/>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“Hour of AI” • PDF p. 1</a:t>
            </a:r>
            <a:endParaRPr b="0" i="0" sz="1400" u="none" cap="none" strike="noStrike">
              <a:solidFill>
                <a:schemeClr val="dk1"/>
              </a:solidFill>
              <a:latin typeface="Calibri"/>
              <a:ea typeface="Calibri"/>
              <a:cs typeface="Calibri"/>
              <a:sym typeface="Calibri"/>
            </a:endParaRPr>
          </a:p>
        </p:txBody>
      </p:sp>
      <p:sp>
        <p:nvSpPr>
          <p:cNvPr id="131" name="Google Shape;131;p2"/>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03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36" name="Shape 136"/>
        <p:cNvGrpSpPr/>
        <p:nvPr/>
      </p:nvGrpSpPr>
      <p:grpSpPr>
        <a:xfrm>
          <a:off x="0" y="0"/>
          <a:ext cx="0" cy="0"/>
          <a:chOff x="0" y="0"/>
          <a:chExt cx="0" cy="0"/>
        </a:xfrm>
      </p:grpSpPr>
      <p:sp>
        <p:nvSpPr>
          <p:cNvPr id="137" name="Google Shape;137;p4"/>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01 (PAGE 2 OF 2)</a:t>
            </a:r>
            <a:endParaRPr b="1" i="0" sz="1400" u="none" cap="none" strike="noStrike">
              <a:solidFill>
                <a:schemeClr val="dk1"/>
              </a:solidFill>
              <a:latin typeface="Calibri"/>
              <a:ea typeface="Calibri"/>
              <a:cs typeface="Calibri"/>
              <a:sym typeface="Calibri"/>
            </a:endParaRPr>
          </a:p>
        </p:txBody>
      </p:sp>
      <p:sp>
        <p:nvSpPr>
          <p:cNvPr id="139" name="Google Shape;139;p4"/>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Hour of AI | 4th–6th Grade</a:t>
            </a:r>
            <a:endParaRPr b="1" i="0" sz="2400" u="none" cap="none" strike="noStrike">
              <a:solidFill>
                <a:schemeClr val="dk1"/>
              </a:solidFill>
              <a:latin typeface="Calibri"/>
              <a:ea typeface="Calibri"/>
              <a:cs typeface="Calibri"/>
              <a:sym typeface="Calibri"/>
            </a:endParaRPr>
          </a:p>
        </p:txBody>
      </p:sp>
      <p:sp>
        <p:nvSpPr>
          <p:cNvPr id="140" name="Google Shape;140;p4"/>
          <p:cNvSpPr/>
          <p:nvPr/>
        </p:nvSpPr>
        <p:spPr>
          <a:xfrm>
            <a:off x="457200" y="1600200"/>
            <a:ext cx="11247120" cy="1051560"/>
          </a:xfrm>
          <a:prstGeom prst="roundRect">
            <a:avLst>
              <a:gd fmla="val 909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4"/>
          <p:cNvSpPr/>
          <p:nvPr/>
        </p:nvSpPr>
        <p:spPr>
          <a:xfrm>
            <a:off x="457200" y="1600200"/>
            <a:ext cx="137160" cy="105156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4"/>
          <p:cNvSpPr/>
          <p:nvPr/>
        </p:nvSpPr>
        <p:spPr>
          <a:xfrm>
            <a:off x="777240" y="164592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WHO BENEFITS</a:t>
            </a:r>
            <a:endParaRPr b="1" i="0" sz="1400" u="none" cap="none" strike="noStrike">
              <a:solidFill>
                <a:schemeClr val="dk1"/>
              </a:solidFill>
              <a:latin typeface="Calibri"/>
              <a:ea typeface="Calibri"/>
              <a:cs typeface="Calibri"/>
              <a:sym typeface="Calibri"/>
            </a:endParaRPr>
          </a:p>
        </p:txBody>
      </p:sp>
      <p:sp>
        <p:nvSpPr>
          <p:cNvPr id="143" name="Google Shape;143;p4"/>
          <p:cNvSpPr/>
          <p:nvPr/>
        </p:nvSpPr>
        <p:spPr>
          <a:xfrm>
            <a:off x="777240" y="204216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23201F"/>
                </a:solidFill>
                <a:latin typeface="Quattrocento Sans"/>
                <a:ea typeface="Quattrocento Sans"/>
                <a:cs typeface="Quattrocento Sans"/>
                <a:sym typeface="Quattrocento Sans"/>
              </a:rPr>
              <a:t>RUSD students in grades 4–6, with more than 100 staff involved.</a:t>
            </a:r>
            <a:endParaRPr b="0" i="0" sz="1400" u="none" cap="none" strike="noStrike">
              <a:solidFill>
                <a:srgbClr val="23201F"/>
              </a:solidFill>
              <a:latin typeface="Quattrocento Sans"/>
              <a:ea typeface="Quattrocento Sans"/>
              <a:cs typeface="Quattrocento Sans"/>
              <a:sym typeface="Quattrocento Sans"/>
            </a:endParaRPr>
          </a:p>
        </p:txBody>
      </p:sp>
      <p:sp>
        <p:nvSpPr>
          <p:cNvPr id="144" name="Google Shape;144;p4"/>
          <p:cNvSpPr/>
          <p:nvPr/>
        </p:nvSpPr>
        <p:spPr>
          <a:xfrm>
            <a:off x="457200" y="2788920"/>
            <a:ext cx="112471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OUTCOMES &amp; IMPACT — REACH AND REPLICATION INTEREST</a:t>
            </a:r>
            <a:endParaRPr b="1" i="0" sz="1400" u="none" cap="none" strike="noStrike">
              <a:solidFill>
                <a:schemeClr val="dk1"/>
              </a:solidFill>
              <a:latin typeface="Calibri"/>
              <a:ea typeface="Calibri"/>
              <a:cs typeface="Calibri"/>
              <a:sym typeface="Calibri"/>
            </a:endParaRPr>
          </a:p>
        </p:txBody>
      </p:sp>
      <p:sp>
        <p:nvSpPr>
          <p:cNvPr id="145" name="Google Shape;145;p4"/>
          <p:cNvSpPr/>
          <p:nvPr/>
        </p:nvSpPr>
        <p:spPr>
          <a:xfrm>
            <a:off x="4572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4"/>
          <p:cNvSpPr/>
          <p:nvPr/>
        </p:nvSpPr>
        <p:spPr>
          <a:xfrm>
            <a:off x="5943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&gt;1,500</a:t>
            </a:r>
            <a:endParaRPr b="1" i="0" sz="3200" u="none" cap="none" strike="noStrike">
              <a:solidFill>
                <a:schemeClr val="dk1"/>
              </a:solidFill>
              <a:latin typeface="Calibri"/>
              <a:ea typeface="Calibri"/>
              <a:cs typeface="Calibri"/>
              <a:sym typeface="Calibri"/>
            </a:endParaRPr>
          </a:p>
        </p:txBody>
      </p:sp>
      <p:sp>
        <p:nvSpPr>
          <p:cNvPr id="147" name="Google Shape;147;p4"/>
          <p:cNvSpPr/>
          <p:nvPr/>
        </p:nvSpPr>
        <p:spPr>
          <a:xfrm>
            <a:off x="5943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students participated</a:t>
            </a:r>
            <a:endParaRPr b="0" i="0" sz="1400" u="none" cap="none" strike="noStrike">
              <a:solidFill>
                <a:schemeClr val="dk1"/>
              </a:solidFill>
              <a:latin typeface="Calibri"/>
              <a:ea typeface="Calibri"/>
              <a:cs typeface="Calibri"/>
              <a:sym typeface="Calibri"/>
            </a:endParaRPr>
          </a:p>
        </p:txBody>
      </p:sp>
      <p:sp>
        <p:nvSpPr>
          <p:cNvPr id="148" name="Google Shape;148;p4"/>
          <p:cNvSpPr/>
          <p:nvPr/>
        </p:nvSpPr>
        <p:spPr>
          <a:xfrm>
            <a:off x="42926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p:nvPr/>
        </p:nvSpPr>
        <p:spPr>
          <a:xfrm>
            <a:off x="44297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&gt;100</a:t>
            </a:r>
            <a:endParaRPr b="1" i="0" sz="3200" u="none" cap="none" strike="noStrike">
              <a:solidFill>
                <a:schemeClr val="dk1"/>
              </a:solidFill>
              <a:latin typeface="Calibri"/>
              <a:ea typeface="Calibri"/>
              <a:cs typeface="Calibri"/>
              <a:sym typeface="Calibri"/>
            </a:endParaRPr>
          </a:p>
        </p:txBody>
      </p:sp>
      <p:sp>
        <p:nvSpPr>
          <p:cNvPr id="150" name="Google Shape;150;p4"/>
          <p:cNvSpPr/>
          <p:nvPr/>
        </p:nvSpPr>
        <p:spPr>
          <a:xfrm>
            <a:off x="44297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staff involved</a:t>
            </a:r>
            <a:endParaRPr b="0" i="0" sz="1400" u="none" cap="none" strike="noStrike">
              <a:solidFill>
                <a:schemeClr val="dk1"/>
              </a:solidFill>
              <a:latin typeface="Calibri"/>
              <a:ea typeface="Calibri"/>
              <a:cs typeface="Calibri"/>
              <a:sym typeface="Calibri"/>
            </a:endParaRPr>
          </a:p>
        </p:txBody>
      </p:sp>
      <p:sp>
        <p:nvSpPr>
          <p:cNvPr id="151" name="Google Shape;151;p4"/>
          <p:cNvSpPr/>
          <p:nvPr/>
        </p:nvSpPr>
        <p:spPr>
          <a:xfrm>
            <a:off x="81280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p:nvPr/>
        </p:nvSpPr>
        <p:spPr>
          <a:xfrm>
            <a:off x="82651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B900"/>
                </a:solidFill>
                <a:latin typeface="Quattrocento Sans"/>
                <a:ea typeface="Quattrocento Sans"/>
                <a:cs typeface="Quattrocento Sans"/>
                <a:sym typeface="Quattrocento Sans"/>
              </a:rPr>
              <a:t>Shared</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82651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Burlington Area School District Library</a:t>
            </a:r>
            <a:endParaRPr b="0" i="0" sz="1400" u="none" cap="none" strike="noStrike">
              <a:solidFill>
                <a:schemeClr val="dk1"/>
              </a:solidFill>
              <a:latin typeface="Calibri"/>
              <a:ea typeface="Calibri"/>
              <a:cs typeface="Calibri"/>
              <a:sym typeface="Calibri"/>
            </a:endParaRPr>
          </a:p>
        </p:txBody>
      </p:sp>
      <p:sp>
        <p:nvSpPr>
          <p:cNvPr id="154" name="Google Shape;154;p4"/>
          <p:cNvSpPr/>
          <p:nvPr/>
        </p:nvSpPr>
        <p:spPr>
          <a:xfrm>
            <a:off x="457200" y="4434840"/>
            <a:ext cx="562356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4"/>
          <p:cNvSpPr/>
          <p:nvPr/>
        </p:nvSpPr>
        <p:spPr>
          <a:xfrm>
            <a:off x="457200" y="4434840"/>
            <a:ext cx="5623560" cy="35052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4"/>
          <p:cNvSpPr/>
          <p:nvPr/>
        </p:nvSpPr>
        <p:spPr>
          <a:xfrm>
            <a:off x="640080" y="443484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RESPONSIBLE AI CONSIDERATIONS</a:t>
            </a:r>
            <a:endParaRPr b="1" i="0" sz="1400" u="none" cap="none" strike="noStrike">
              <a:solidFill>
                <a:schemeClr val="dk1"/>
              </a:solidFill>
              <a:latin typeface="Calibri"/>
              <a:ea typeface="Calibri"/>
              <a:cs typeface="Calibri"/>
              <a:sym typeface="Calibri"/>
            </a:endParaRPr>
          </a:p>
        </p:txBody>
      </p:sp>
      <p:sp>
        <p:nvSpPr>
          <p:cNvPr id="157" name="Google Shape;157;p4"/>
          <p:cNvSpPr/>
          <p:nvPr/>
        </p:nvSpPr>
        <p:spPr>
          <a:xfrm>
            <a:off x="640080" y="487680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solidFill>
                  <a:srgbClr val="23201F"/>
                </a:solidFill>
                <a:latin typeface="Quattrocento Sans"/>
                <a:ea typeface="Quattrocento Sans"/>
                <a:cs typeface="Quattrocento Sans"/>
                <a:sym typeface="Quattrocento Sans"/>
              </a:rPr>
              <a:t>Students learned to approach AI with curiosity, responsibility, and a human-centered mindset, with an emphasis on using AI safely and thoughtfully. </a:t>
            </a:r>
            <a:endParaRPr b="0" i="0" sz="1400" u="none" cap="none" strike="noStrike">
              <a:solidFill>
                <a:srgbClr val="23201F"/>
              </a:solidFill>
              <a:latin typeface="Quattrocento Sans"/>
              <a:ea typeface="Quattrocento Sans"/>
              <a:cs typeface="Quattrocento Sans"/>
              <a:sym typeface="Quattrocento Sans"/>
            </a:endParaRPr>
          </a:p>
        </p:txBody>
      </p:sp>
      <p:sp>
        <p:nvSpPr>
          <p:cNvPr id="158" name="Google Shape;158;p4"/>
          <p:cNvSpPr/>
          <p:nvPr/>
        </p:nvSpPr>
        <p:spPr>
          <a:xfrm>
            <a:off x="6263640" y="4434840"/>
            <a:ext cx="544068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4"/>
          <p:cNvSpPr/>
          <p:nvPr/>
        </p:nvSpPr>
        <p:spPr>
          <a:xfrm>
            <a:off x="6263640" y="443484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p:nvPr/>
        </p:nvSpPr>
        <p:spPr>
          <a:xfrm>
            <a:off x="6446520" y="443484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WHAT'S NEXT</a:t>
            </a:r>
            <a:endParaRPr b="1" i="0" sz="1400" u="none" cap="none" strike="noStrike">
              <a:solidFill>
                <a:schemeClr val="dk1"/>
              </a:solidFill>
              <a:latin typeface="Calibri"/>
              <a:ea typeface="Calibri"/>
              <a:cs typeface="Calibri"/>
              <a:sym typeface="Calibri"/>
            </a:endParaRPr>
          </a:p>
        </p:txBody>
      </p:sp>
      <p:sp>
        <p:nvSpPr>
          <p:cNvPr id="161" name="Google Shape;161;p4"/>
          <p:cNvSpPr/>
          <p:nvPr/>
        </p:nvSpPr>
        <p:spPr>
          <a:xfrm>
            <a:off x="6446520" y="487680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solidFill>
                  <a:srgbClr val="23201F"/>
                </a:solidFill>
                <a:latin typeface="Quattrocento Sans"/>
                <a:ea typeface="Quattrocento Sans"/>
                <a:cs typeface="Quattrocento Sans"/>
                <a:sym typeface="Quattrocento Sans"/>
              </a:rPr>
              <a:t>Continue and refine Hour of AI for 2026-27, using lessons from the first RUSD-wide experience. Burlington Area School District has reached out to learn the model.</a:t>
            </a:r>
            <a:endParaRPr/>
          </a:p>
        </p:txBody>
      </p:sp>
      <p:sp>
        <p:nvSpPr>
          <p:cNvPr id="162" name="Google Shape;162;p4"/>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“Hour of AI” • PDF p. 1</a:t>
            </a:r>
            <a:endParaRPr b="0" i="0" sz="1400" u="none" cap="none" strike="noStrike">
              <a:solidFill>
                <a:schemeClr val="dk1"/>
              </a:solidFill>
              <a:latin typeface="Calibri"/>
              <a:ea typeface="Calibri"/>
              <a:cs typeface="Calibri"/>
              <a:sym typeface="Calibri"/>
            </a:endParaRPr>
          </a:p>
        </p:txBody>
      </p:sp>
      <p:sp>
        <p:nvSpPr>
          <p:cNvPr id="163" name="Google Shape;163;p4"/>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04 / 12</a:t>
            </a:r>
            <a:endParaRPr b="0" i="0" sz="1400" u="none" cap="none" strike="noStrike">
              <a:solidFill>
                <a:schemeClr val="dk1"/>
              </a:solidFill>
              <a:latin typeface="Calibri"/>
              <a:ea typeface="Calibri"/>
              <a:cs typeface="Calibri"/>
              <a:sym typeface="Calibri"/>
            </a:endParaRPr>
          </a:p>
        </p:txBody>
      </p:sp>
      <p:sp>
        <p:nvSpPr>
          <p:cNvPr id="164" name="Google Shape;164;p4"/>
          <p:cNvSpPr/>
          <p:nvPr/>
        </p:nvSpPr>
        <p:spPr>
          <a:xfrm>
            <a:off x="9540240" y="731520"/>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4"/>
          <p:cNvSpPr/>
          <p:nvPr/>
        </p:nvSpPr>
        <p:spPr>
          <a:xfrm>
            <a:off x="9543957" y="725944"/>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70" name="Shape 170"/>
        <p:cNvGrpSpPr/>
        <p:nvPr/>
      </p:nvGrpSpPr>
      <p:grpSpPr>
        <a:xfrm>
          <a:off x="0" y="0"/>
          <a:ext cx="0" cy="0"/>
          <a:chOff x="0" y="0"/>
          <a:chExt cx="0" cy="0"/>
        </a:xfrm>
      </p:grpSpPr>
      <p:sp>
        <p:nvSpPr>
          <p:cNvPr id="171" name="Google Shape;171;p19"/>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02 (PAGE 1 OF 2)</a:t>
            </a:r>
            <a:endParaRPr b="1" i="0" sz="1400" u="none" cap="none" strike="noStrike">
              <a:solidFill>
                <a:schemeClr val="dk1"/>
              </a:solidFill>
              <a:latin typeface="Calibri"/>
              <a:ea typeface="Calibri"/>
              <a:cs typeface="Calibri"/>
              <a:sym typeface="Calibri"/>
            </a:endParaRPr>
          </a:p>
        </p:txBody>
      </p:sp>
      <p:sp>
        <p:nvSpPr>
          <p:cNvPr id="173" name="Google Shape;173;p19"/>
          <p:cNvSpPr/>
          <p:nvPr/>
        </p:nvSpPr>
        <p:spPr>
          <a:xfrm>
            <a:off x="457200" y="853440"/>
            <a:ext cx="7345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District AI Team</a:t>
            </a:r>
            <a:endParaRPr b="1" i="0" sz="2400" u="none" cap="none" strike="noStrike">
              <a:solidFill>
                <a:schemeClr val="dk1"/>
              </a:solidFill>
              <a:latin typeface="Calibri"/>
              <a:ea typeface="Calibri"/>
              <a:cs typeface="Calibri"/>
              <a:sym typeface="Calibri"/>
            </a:endParaRPr>
          </a:p>
        </p:txBody>
      </p:sp>
      <p:sp>
        <p:nvSpPr>
          <p:cNvPr id="174" name="Google Shape;174;p19"/>
          <p:cNvSpPr/>
          <p:nvPr/>
        </p:nvSpPr>
        <p:spPr>
          <a:xfrm>
            <a:off x="8077200" y="731520"/>
            <a:ext cx="3657600" cy="563880"/>
          </a:xfrm>
          <a:prstGeom prst="roundRect">
            <a:avLst>
              <a:gd fmla="val 49091" name="adj"/>
            </a:avLst>
          </a:prstGeom>
          <a:solidFill>
            <a:srgbClr val="FFB900"/>
          </a:solidFill>
          <a:ln cap="flat" cmpd="sng" w="1905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8077200" y="838200"/>
            <a:ext cx="3657600" cy="350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Institutional Innovation</a:t>
            </a:r>
            <a:endParaRPr b="1" i="0" sz="1400" u="none" cap="none" strike="noStrike">
              <a:solidFill>
                <a:schemeClr val="dk1"/>
              </a:solidFill>
              <a:latin typeface="Calibri"/>
              <a:ea typeface="Calibri"/>
              <a:cs typeface="Calibri"/>
              <a:sym typeface="Calibri"/>
            </a:endParaRPr>
          </a:p>
        </p:txBody>
      </p:sp>
      <p:sp>
        <p:nvSpPr>
          <p:cNvPr id="176" name="Google Shape;176;p19"/>
          <p:cNvSpPr/>
          <p:nvPr/>
        </p:nvSpPr>
        <p:spPr>
          <a:xfrm>
            <a:off x="45720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p:nvPr/>
        </p:nvSpPr>
        <p:spPr>
          <a:xfrm>
            <a:off x="62179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500" u="none" cap="none" strike="noStrike">
                <a:solidFill>
                  <a:srgbClr val="7B4F9E"/>
                </a:solidFill>
                <a:latin typeface="Quattrocento Sans"/>
                <a:ea typeface="Quattrocento Sans"/>
                <a:cs typeface="Quattrocento Sans"/>
                <a:sym typeface="Quattrocento Sans"/>
              </a:rPr>
              <a:t>ORGANIZATION</a:t>
            </a:r>
            <a:endParaRPr b="1" i="0" sz="1500" u="none" cap="none" strike="noStrike">
              <a:solidFill>
                <a:schemeClr val="dk1"/>
              </a:solidFill>
              <a:latin typeface="Calibri"/>
              <a:ea typeface="Calibri"/>
              <a:cs typeface="Calibri"/>
              <a:sym typeface="Calibri"/>
            </a:endParaRPr>
          </a:p>
        </p:txBody>
      </p:sp>
      <p:sp>
        <p:nvSpPr>
          <p:cNvPr id="178" name="Google Shape;178;p19"/>
          <p:cNvSpPr/>
          <p:nvPr/>
        </p:nvSpPr>
        <p:spPr>
          <a:xfrm>
            <a:off x="62179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RUSD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District-wide</a:t>
            </a:r>
            <a:endParaRPr b="0" i="0" sz="1400" u="none" cap="none" strike="noStrike">
              <a:solidFill>
                <a:schemeClr val="dk1"/>
              </a:solidFill>
              <a:latin typeface="Calibri"/>
              <a:ea typeface="Calibri"/>
              <a:cs typeface="Calibri"/>
              <a:sym typeface="Calibri"/>
            </a:endParaRPr>
          </a:p>
        </p:txBody>
      </p:sp>
      <p:sp>
        <p:nvSpPr>
          <p:cNvPr id="179" name="Google Shape;179;p19"/>
          <p:cNvSpPr/>
          <p:nvPr/>
        </p:nvSpPr>
        <p:spPr>
          <a:xfrm>
            <a:off x="333756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19"/>
          <p:cNvSpPr/>
          <p:nvPr/>
        </p:nvSpPr>
        <p:spPr>
          <a:xfrm>
            <a:off x="350215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CONTACT SOURCE</a:t>
            </a:r>
            <a:endParaRPr b="1" i="0" sz="1400" u="none" cap="none" strike="noStrike">
              <a:solidFill>
                <a:schemeClr val="dk1"/>
              </a:solidFill>
              <a:latin typeface="Calibri"/>
              <a:ea typeface="Calibri"/>
              <a:cs typeface="Calibri"/>
              <a:sym typeface="Calibri"/>
            </a:endParaRPr>
          </a:p>
        </p:txBody>
      </p:sp>
      <p:sp>
        <p:nvSpPr>
          <p:cNvPr id="181" name="Google Shape;181;p19"/>
          <p:cNvSpPr/>
          <p:nvPr/>
        </p:nvSpPr>
        <p:spPr>
          <a:xfrm>
            <a:off x="350215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David Venne</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Arial"/>
                <a:ea typeface="Arial"/>
                <a:cs typeface="Arial"/>
                <a:sym typeface="Arial"/>
              </a:rPr>
              <a:t>david.venne@rusd.org</a:t>
            </a:r>
            <a:endParaRPr b="0" i="0" sz="1400" u="none" cap="none" strike="noStrike">
              <a:solidFill>
                <a:srgbClr val="23201F"/>
              </a:solidFill>
              <a:latin typeface="Quattrocento Sans"/>
              <a:ea typeface="Quattrocento Sans"/>
              <a:cs typeface="Quattrocento Sans"/>
              <a:sym typeface="Quattrocento Sans"/>
            </a:endParaRPr>
          </a:p>
        </p:txBody>
      </p:sp>
      <p:sp>
        <p:nvSpPr>
          <p:cNvPr id="182" name="Google Shape;182;p19"/>
          <p:cNvSpPr/>
          <p:nvPr/>
        </p:nvSpPr>
        <p:spPr>
          <a:xfrm>
            <a:off x="621792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19"/>
          <p:cNvSpPr/>
          <p:nvPr/>
        </p:nvSpPr>
        <p:spPr>
          <a:xfrm>
            <a:off x="638251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DATE IMPLEMENTED</a:t>
            </a:r>
            <a:endParaRPr b="1" i="0" sz="1400" u="none" cap="none" strike="noStrike">
              <a:solidFill>
                <a:schemeClr val="dk1"/>
              </a:solidFill>
              <a:latin typeface="Calibri"/>
              <a:ea typeface="Calibri"/>
              <a:cs typeface="Calibri"/>
              <a:sym typeface="Calibri"/>
            </a:endParaRPr>
          </a:p>
        </p:txBody>
      </p:sp>
      <p:sp>
        <p:nvSpPr>
          <p:cNvPr id="184" name="Google Shape;184;p19"/>
          <p:cNvSpPr/>
          <p:nvPr/>
        </p:nvSpPr>
        <p:spPr>
          <a:xfrm>
            <a:off x="638251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August 2026</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Staff training</a:t>
            </a:r>
            <a:endParaRPr b="0" i="0" sz="1400" u="none" cap="none" strike="noStrike">
              <a:solidFill>
                <a:schemeClr val="dk1"/>
              </a:solidFill>
              <a:latin typeface="Calibri"/>
              <a:ea typeface="Calibri"/>
              <a:cs typeface="Calibri"/>
              <a:sym typeface="Calibri"/>
            </a:endParaRPr>
          </a:p>
        </p:txBody>
      </p:sp>
      <p:sp>
        <p:nvSpPr>
          <p:cNvPr id="185" name="Google Shape;185;p19"/>
          <p:cNvSpPr/>
          <p:nvPr/>
        </p:nvSpPr>
        <p:spPr>
          <a:xfrm>
            <a:off x="909828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19"/>
          <p:cNvSpPr/>
          <p:nvPr/>
        </p:nvSpPr>
        <p:spPr>
          <a:xfrm>
            <a:off x="926287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STATUS</a:t>
            </a:r>
            <a:endParaRPr b="1" i="0" sz="1400" u="none" cap="none" strike="noStrike">
              <a:solidFill>
                <a:schemeClr val="dk1"/>
              </a:solidFill>
              <a:latin typeface="Calibri"/>
              <a:ea typeface="Calibri"/>
              <a:cs typeface="Calibri"/>
              <a:sym typeface="Calibri"/>
            </a:endParaRPr>
          </a:p>
        </p:txBody>
      </p:sp>
      <p:sp>
        <p:nvSpPr>
          <p:cNvPr id="187" name="Google Shape;187;p19"/>
          <p:cNvSpPr/>
          <p:nvPr/>
        </p:nvSpPr>
        <p:spPr>
          <a:xfrm>
            <a:off x="926287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Active team</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Student rollout</a:t>
            </a:r>
            <a:endParaRPr b="0" i="0" sz="1400" u="none" cap="none" strike="noStrike">
              <a:solidFill>
                <a:schemeClr val="dk1"/>
              </a:solidFill>
              <a:latin typeface="Calibri"/>
              <a:ea typeface="Calibri"/>
              <a:cs typeface="Calibri"/>
              <a:sym typeface="Calibri"/>
            </a:endParaRPr>
          </a:p>
        </p:txBody>
      </p:sp>
      <p:sp>
        <p:nvSpPr>
          <p:cNvPr id="188" name="Google Shape;188;p19"/>
          <p:cNvSpPr/>
          <p:nvPr/>
        </p:nvSpPr>
        <p:spPr>
          <a:xfrm>
            <a:off x="457200" y="2971800"/>
            <a:ext cx="562356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19"/>
          <p:cNvSpPr/>
          <p:nvPr/>
        </p:nvSpPr>
        <p:spPr>
          <a:xfrm>
            <a:off x="457200" y="2971800"/>
            <a:ext cx="5623560" cy="35052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19"/>
          <p:cNvSpPr/>
          <p:nvPr/>
        </p:nvSpPr>
        <p:spPr>
          <a:xfrm>
            <a:off x="640080" y="297180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2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THE CHALLENGE</a:t>
            </a:r>
            <a:endParaRPr b="1" i="0" sz="1400" u="none" cap="none" strike="noStrike">
              <a:solidFill>
                <a:schemeClr val="dk1"/>
              </a:solidFill>
              <a:latin typeface="Calibri"/>
              <a:ea typeface="Calibri"/>
              <a:cs typeface="Calibri"/>
              <a:sym typeface="Calibri"/>
            </a:endParaRPr>
          </a:p>
        </p:txBody>
      </p:sp>
      <p:sp>
        <p:nvSpPr>
          <p:cNvPr id="191" name="Google Shape;191;p19"/>
          <p:cNvSpPr/>
          <p:nvPr/>
        </p:nvSpPr>
        <p:spPr>
          <a:xfrm>
            <a:off x="640080" y="341376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Build a district-wide culture of responsible AI use, giving educators the knowledge and tools to work smarter and enhance what they already do. </a:t>
            </a:r>
            <a:endParaRPr b="0" i="0" sz="1400" u="none" cap="none" strike="noStrike">
              <a:solidFill>
                <a:schemeClr val="dk1"/>
              </a:solidFill>
              <a:latin typeface="Calibri"/>
              <a:ea typeface="Calibri"/>
              <a:cs typeface="Calibri"/>
              <a:sym typeface="Calibri"/>
            </a:endParaRPr>
          </a:p>
        </p:txBody>
      </p:sp>
      <p:sp>
        <p:nvSpPr>
          <p:cNvPr id="192" name="Google Shape;192;p19"/>
          <p:cNvSpPr/>
          <p:nvPr/>
        </p:nvSpPr>
        <p:spPr>
          <a:xfrm>
            <a:off x="6263640" y="2971800"/>
            <a:ext cx="544068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19"/>
          <p:cNvSpPr/>
          <p:nvPr/>
        </p:nvSpPr>
        <p:spPr>
          <a:xfrm>
            <a:off x="6263640" y="297180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19"/>
          <p:cNvSpPr/>
          <p:nvPr/>
        </p:nvSpPr>
        <p:spPr>
          <a:xfrm>
            <a:off x="6446520" y="297180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THE SOLUTION</a:t>
            </a:r>
            <a:endParaRPr b="1" i="0" sz="1400" u="none" cap="none" strike="noStrike">
              <a:solidFill>
                <a:schemeClr val="dk1"/>
              </a:solidFill>
              <a:latin typeface="Calibri"/>
              <a:ea typeface="Calibri"/>
              <a:cs typeface="Calibri"/>
              <a:sym typeface="Calibri"/>
            </a:endParaRPr>
          </a:p>
        </p:txBody>
      </p:sp>
      <p:sp>
        <p:nvSpPr>
          <p:cNvPr id="195" name="Google Shape;195;p19"/>
          <p:cNvSpPr/>
          <p:nvPr/>
        </p:nvSpPr>
        <p:spPr>
          <a:xfrm>
            <a:off x="6446520" y="341376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RUSD moved from conversation to action, developing a Board-approved AI policy and bringing AI learning to more than 1,500 K–12 educators in August 2026. </a:t>
            </a:r>
            <a:endParaRPr b="0" i="0" sz="1400" u="none" cap="none" strike="noStrike">
              <a:solidFill>
                <a:schemeClr val="dk1"/>
              </a:solidFill>
              <a:latin typeface="Calibri"/>
              <a:ea typeface="Calibri"/>
              <a:cs typeface="Calibri"/>
              <a:sym typeface="Calibri"/>
            </a:endParaRPr>
          </a:p>
        </p:txBody>
      </p:sp>
      <p:sp>
        <p:nvSpPr>
          <p:cNvPr id="196" name="Google Shape;196;p19"/>
          <p:cNvSpPr/>
          <p:nvPr/>
        </p:nvSpPr>
        <p:spPr>
          <a:xfrm>
            <a:off x="457200" y="4770120"/>
            <a:ext cx="11247120" cy="1143000"/>
          </a:xfrm>
          <a:prstGeom prst="roundRect">
            <a:avLst>
              <a:gd fmla="val 5714"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p:nvPr/>
        </p:nvSpPr>
        <p:spPr>
          <a:xfrm>
            <a:off x="457200" y="4770120"/>
            <a:ext cx="137160" cy="114300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p19"/>
          <p:cNvSpPr/>
          <p:nvPr/>
        </p:nvSpPr>
        <p:spPr>
          <a:xfrm>
            <a:off x="777240" y="481584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AI TOOLS &amp; PLATFORMS USED</a:t>
            </a:r>
            <a:endParaRPr b="1" i="0" sz="1400" u="none" cap="none" strike="noStrike">
              <a:solidFill>
                <a:schemeClr val="dk1"/>
              </a:solidFill>
              <a:latin typeface="Calibri"/>
              <a:ea typeface="Calibri"/>
              <a:cs typeface="Calibri"/>
              <a:sym typeface="Calibri"/>
            </a:endParaRPr>
          </a:p>
        </p:txBody>
      </p:sp>
      <p:sp>
        <p:nvSpPr>
          <p:cNvPr id="199" name="Google Shape;199;p19"/>
          <p:cNvSpPr/>
          <p:nvPr/>
        </p:nvSpPr>
        <p:spPr>
          <a:xfrm>
            <a:off x="777240" y="521208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solidFill>
                  <a:srgbClr val="23201F"/>
                </a:solidFill>
                <a:latin typeface="Quattrocento Sans"/>
                <a:ea typeface="Quattrocento Sans"/>
                <a:cs typeface="Quattrocento Sans"/>
                <a:sym typeface="Quattrocento Sans"/>
              </a:rPr>
              <a:t>Staff learning combined hands-on exploration of Gemini and NotebookLM with practical learning around prompting, AI ethics, bias, and responsible use. </a:t>
            </a:r>
            <a:endParaRPr>
              <a:solidFill>
                <a:srgbClr val="23201F"/>
              </a:solidFill>
              <a:latin typeface="Quattrocento Sans"/>
              <a:ea typeface="Quattrocento Sans"/>
              <a:cs typeface="Quattrocento Sans"/>
              <a:sym typeface="Quattrocento Sans"/>
            </a:endParaRPr>
          </a:p>
        </p:txBody>
      </p:sp>
      <p:sp>
        <p:nvSpPr>
          <p:cNvPr id="200" name="Google Shape;200;p19"/>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“District AI Team” • PDF p. 1</a:t>
            </a:r>
            <a:endParaRPr b="0" i="0" sz="1400" u="none" cap="none" strike="noStrike">
              <a:solidFill>
                <a:schemeClr val="dk1"/>
              </a:solidFill>
              <a:latin typeface="Calibri"/>
              <a:ea typeface="Calibri"/>
              <a:cs typeface="Calibri"/>
              <a:sym typeface="Calibri"/>
            </a:endParaRPr>
          </a:p>
        </p:txBody>
      </p:sp>
      <p:sp>
        <p:nvSpPr>
          <p:cNvPr id="201" name="Google Shape;201;p19"/>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05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06" name="Shape 206"/>
        <p:cNvGrpSpPr/>
        <p:nvPr/>
      </p:nvGrpSpPr>
      <p:grpSpPr>
        <a:xfrm>
          <a:off x="0" y="0"/>
          <a:ext cx="0" cy="0"/>
          <a:chOff x="0" y="0"/>
          <a:chExt cx="0" cy="0"/>
        </a:xfrm>
      </p:grpSpPr>
      <p:sp>
        <p:nvSpPr>
          <p:cNvPr id="207" name="Google Shape;207;p20"/>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02 (PAGE 2 OF 2)</a:t>
            </a:r>
            <a:endParaRPr b="1" i="0" sz="1400" u="none" cap="none" strike="noStrike">
              <a:solidFill>
                <a:schemeClr val="dk1"/>
              </a:solidFill>
              <a:latin typeface="Calibri"/>
              <a:ea typeface="Calibri"/>
              <a:cs typeface="Calibri"/>
              <a:sym typeface="Calibri"/>
            </a:endParaRPr>
          </a:p>
        </p:txBody>
      </p:sp>
      <p:sp>
        <p:nvSpPr>
          <p:cNvPr id="209" name="Google Shape;209;p20"/>
          <p:cNvSpPr/>
          <p:nvPr/>
        </p:nvSpPr>
        <p:spPr>
          <a:xfrm>
            <a:off x="457200" y="853440"/>
            <a:ext cx="7345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District AI Team</a:t>
            </a:r>
            <a:endParaRPr b="1" i="0" sz="2400" u="none" cap="none" strike="noStrike">
              <a:solidFill>
                <a:schemeClr val="dk1"/>
              </a:solidFill>
              <a:latin typeface="Calibri"/>
              <a:ea typeface="Calibri"/>
              <a:cs typeface="Calibri"/>
              <a:sym typeface="Calibri"/>
            </a:endParaRPr>
          </a:p>
        </p:txBody>
      </p:sp>
      <p:sp>
        <p:nvSpPr>
          <p:cNvPr id="210" name="Google Shape;210;p20"/>
          <p:cNvSpPr/>
          <p:nvPr/>
        </p:nvSpPr>
        <p:spPr>
          <a:xfrm>
            <a:off x="8077200" y="731520"/>
            <a:ext cx="3657600" cy="563880"/>
          </a:xfrm>
          <a:prstGeom prst="roundRect">
            <a:avLst>
              <a:gd fmla="val 49091" name="adj"/>
            </a:avLst>
          </a:prstGeom>
          <a:solidFill>
            <a:srgbClr val="FFB900"/>
          </a:solidFill>
          <a:ln cap="flat" cmpd="sng" w="1905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20"/>
          <p:cNvSpPr/>
          <p:nvPr/>
        </p:nvSpPr>
        <p:spPr>
          <a:xfrm>
            <a:off x="8077200" y="838200"/>
            <a:ext cx="3657600" cy="350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Institutional Innovation</a:t>
            </a:r>
            <a:endParaRPr b="1" i="0" sz="1400" u="none" cap="none" strike="noStrike">
              <a:solidFill>
                <a:schemeClr val="dk1"/>
              </a:solidFill>
              <a:latin typeface="Calibri"/>
              <a:ea typeface="Calibri"/>
              <a:cs typeface="Calibri"/>
              <a:sym typeface="Calibri"/>
            </a:endParaRPr>
          </a:p>
        </p:txBody>
      </p:sp>
      <p:sp>
        <p:nvSpPr>
          <p:cNvPr id="212" name="Google Shape;212;p20"/>
          <p:cNvSpPr/>
          <p:nvPr/>
        </p:nvSpPr>
        <p:spPr>
          <a:xfrm>
            <a:off x="457200" y="1600200"/>
            <a:ext cx="11247120" cy="1051560"/>
          </a:xfrm>
          <a:prstGeom prst="roundRect">
            <a:avLst>
              <a:gd fmla="val 909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457200" y="1600200"/>
            <a:ext cx="137160" cy="105156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p:nvPr/>
        </p:nvSpPr>
        <p:spPr>
          <a:xfrm>
            <a:off x="777240" y="164592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WHO BENEFITS</a:t>
            </a:r>
            <a:endParaRPr b="1" i="0" sz="1400" u="none" cap="none" strike="noStrike">
              <a:solidFill>
                <a:schemeClr val="dk1"/>
              </a:solidFill>
              <a:latin typeface="Calibri"/>
              <a:ea typeface="Calibri"/>
              <a:cs typeface="Calibri"/>
              <a:sym typeface="Calibri"/>
            </a:endParaRPr>
          </a:p>
        </p:txBody>
      </p:sp>
      <p:sp>
        <p:nvSpPr>
          <p:cNvPr id="215" name="Google Shape;215;p20"/>
          <p:cNvSpPr/>
          <p:nvPr/>
        </p:nvSpPr>
        <p:spPr>
          <a:xfrm>
            <a:off x="777240" y="204216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More than 1,500 K–12 educators engaged in AI professional learning, establishing a shared foundation across the district. Student AI learning is now expanding through academy courses and library programming. </a:t>
            </a:r>
            <a:endParaRPr b="0" i="0" sz="1400" u="none" cap="none" strike="noStrike">
              <a:solidFill>
                <a:schemeClr val="dk1"/>
              </a:solidFill>
              <a:latin typeface="Calibri"/>
              <a:ea typeface="Calibri"/>
              <a:cs typeface="Calibri"/>
              <a:sym typeface="Calibri"/>
            </a:endParaRPr>
          </a:p>
        </p:txBody>
      </p:sp>
      <p:sp>
        <p:nvSpPr>
          <p:cNvPr id="216" name="Google Shape;216;p20"/>
          <p:cNvSpPr/>
          <p:nvPr/>
        </p:nvSpPr>
        <p:spPr>
          <a:xfrm>
            <a:off x="457200" y="2788920"/>
            <a:ext cx="112471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OUTCOMES &amp; IMPACT — PARTICIPATION AND DISTRICT MILESTONES</a:t>
            </a:r>
            <a:endParaRPr b="1" i="0" sz="1400" u="none" cap="none" strike="noStrike">
              <a:solidFill>
                <a:schemeClr val="dk1"/>
              </a:solidFill>
              <a:latin typeface="Calibri"/>
              <a:ea typeface="Calibri"/>
              <a:cs typeface="Calibri"/>
              <a:sym typeface="Calibri"/>
            </a:endParaRPr>
          </a:p>
        </p:txBody>
      </p:sp>
      <p:sp>
        <p:nvSpPr>
          <p:cNvPr id="217" name="Google Shape;217;p20"/>
          <p:cNvSpPr/>
          <p:nvPr/>
        </p:nvSpPr>
        <p:spPr>
          <a:xfrm>
            <a:off x="4572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20"/>
          <p:cNvSpPr/>
          <p:nvPr/>
        </p:nvSpPr>
        <p:spPr>
          <a:xfrm>
            <a:off x="5943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1,500+</a:t>
            </a:r>
            <a:endParaRPr b="1" i="0" sz="3200" u="none" cap="none" strike="noStrike">
              <a:solidFill>
                <a:schemeClr val="dk1"/>
              </a:solidFill>
              <a:latin typeface="Calibri"/>
              <a:ea typeface="Calibri"/>
              <a:cs typeface="Calibri"/>
              <a:sym typeface="Calibri"/>
            </a:endParaRPr>
          </a:p>
        </p:txBody>
      </p:sp>
      <p:sp>
        <p:nvSpPr>
          <p:cNvPr id="219" name="Google Shape;219;p20"/>
          <p:cNvSpPr/>
          <p:nvPr/>
        </p:nvSpPr>
        <p:spPr>
          <a:xfrm>
            <a:off x="5943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K–12 staff trained</a:t>
            </a:r>
            <a:endParaRPr b="0" i="0" sz="1400" u="none" cap="none" strike="noStrike">
              <a:solidFill>
                <a:schemeClr val="dk1"/>
              </a:solidFill>
              <a:latin typeface="Calibri"/>
              <a:ea typeface="Calibri"/>
              <a:cs typeface="Calibri"/>
              <a:sym typeface="Calibri"/>
            </a:endParaRPr>
          </a:p>
        </p:txBody>
      </p:sp>
      <p:sp>
        <p:nvSpPr>
          <p:cNvPr id="220" name="Google Shape;220;p20"/>
          <p:cNvSpPr/>
          <p:nvPr/>
        </p:nvSpPr>
        <p:spPr>
          <a:xfrm>
            <a:off x="42926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20"/>
          <p:cNvSpPr/>
          <p:nvPr/>
        </p:nvSpPr>
        <p:spPr>
          <a:xfrm>
            <a:off x="44297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Approved</a:t>
            </a:r>
            <a:endParaRPr b="1" i="0" sz="3200" u="none" cap="none" strike="noStrike">
              <a:solidFill>
                <a:schemeClr val="dk1"/>
              </a:solidFill>
              <a:latin typeface="Calibri"/>
              <a:ea typeface="Calibri"/>
              <a:cs typeface="Calibri"/>
              <a:sym typeface="Calibri"/>
            </a:endParaRPr>
          </a:p>
        </p:txBody>
      </p:sp>
      <p:sp>
        <p:nvSpPr>
          <p:cNvPr id="222" name="Google Shape;222;p20"/>
          <p:cNvSpPr/>
          <p:nvPr/>
        </p:nvSpPr>
        <p:spPr>
          <a:xfrm>
            <a:off x="44297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Board-approved policy</a:t>
            </a:r>
            <a:endParaRPr b="0" i="0" sz="1400" u="none" cap="none" strike="noStrike">
              <a:solidFill>
                <a:schemeClr val="dk1"/>
              </a:solidFill>
              <a:latin typeface="Calibri"/>
              <a:ea typeface="Calibri"/>
              <a:cs typeface="Calibri"/>
              <a:sym typeface="Calibri"/>
            </a:endParaRPr>
          </a:p>
        </p:txBody>
      </p:sp>
      <p:sp>
        <p:nvSpPr>
          <p:cNvPr id="223" name="Google Shape;223;p20"/>
          <p:cNvSpPr/>
          <p:nvPr/>
        </p:nvSpPr>
        <p:spPr>
          <a:xfrm>
            <a:off x="81280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20"/>
          <p:cNvSpPr/>
          <p:nvPr/>
        </p:nvSpPr>
        <p:spPr>
          <a:xfrm>
            <a:off x="82651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Starting</a:t>
            </a:r>
            <a:endParaRPr b="1" i="0" sz="3200" u="none" cap="none" strike="noStrike">
              <a:solidFill>
                <a:schemeClr val="dk1"/>
              </a:solidFill>
              <a:latin typeface="Calibri"/>
              <a:ea typeface="Calibri"/>
              <a:cs typeface="Calibri"/>
              <a:sym typeface="Calibri"/>
            </a:endParaRPr>
          </a:p>
        </p:txBody>
      </p:sp>
      <p:sp>
        <p:nvSpPr>
          <p:cNvPr id="225" name="Google Shape;225;p20"/>
          <p:cNvSpPr/>
          <p:nvPr/>
        </p:nvSpPr>
        <p:spPr>
          <a:xfrm>
            <a:off x="82651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student AI rollout</a:t>
            </a:r>
            <a:endParaRPr b="0" i="0" sz="1400" u="none" cap="none" strike="noStrike">
              <a:solidFill>
                <a:schemeClr val="dk1"/>
              </a:solidFill>
              <a:latin typeface="Calibri"/>
              <a:ea typeface="Calibri"/>
              <a:cs typeface="Calibri"/>
              <a:sym typeface="Calibri"/>
            </a:endParaRPr>
          </a:p>
        </p:txBody>
      </p:sp>
      <p:sp>
        <p:nvSpPr>
          <p:cNvPr id="226" name="Google Shape;226;p20"/>
          <p:cNvSpPr/>
          <p:nvPr/>
        </p:nvSpPr>
        <p:spPr>
          <a:xfrm>
            <a:off x="457200" y="4434840"/>
            <a:ext cx="562356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20"/>
          <p:cNvSpPr/>
          <p:nvPr/>
        </p:nvSpPr>
        <p:spPr>
          <a:xfrm>
            <a:off x="457200" y="4434840"/>
            <a:ext cx="5623560" cy="35052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20"/>
          <p:cNvSpPr/>
          <p:nvPr/>
        </p:nvSpPr>
        <p:spPr>
          <a:xfrm>
            <a:off x="640080" y="443484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RESPONSIBLE AI CONSIDERATIONS</a:t>
            </a:r>
            <a:endParaRPr b="1" i="0" sz="1400" u="none" cap="none" strike="noStrike">
              <a:solidFill>
                <a:schemeClr val="dk1"/>
              </a:solidFill>
              <a:latin typeface="Calibri"/>
              <a:ea typeface="Calibri"/>
              <a:cs typeface="Calibri"/>
              <a:sym typeface="Calibri"/>
            </a:endParaRPr>
          </a:p>
        </p:txBody>
      </p:sp>
      <p:sp>
        <p:nvSpPr>
          <p:cNvPr id="229" name="Google Shape;229;p20"/>
          <p:cNvSpPr/>
          <p:nvPr/>
        </p:nvSpPr>
        <p:spPr>
          <a:xfrm>
            <a:off x="640080" y="487680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50"/>
              <a:buFont typeface="Quattrocento Sans"/>
              <a:buNone/>
            </a:pPr>
            <a:r>
              <a:rPr lang="en-US">
                <a:solidFill>
                  <a:srgbClr val="23201F"/>
                </a:solidFill>
                <a:latin typeface="Quattrocento Sans"/>
                <a:ea typeface="Quattrocento Sans"/>
                <a:cs typeface="Quattrocento Sans"/>
                <a:sym typeface="Quattrocento Sans"/>
              </a:rPr>
              <a:t>A Board-approved AI policy and district-wide learning have created a foundation for responsible, human-centered AI adoption across RUSD. </a:t>
            </a:r>
            <a:endParaRPr b="0" i="0" sz="1400" u="none" cap="none" strike="noStrike">
              <a:solidFill>
                <a:schemeClr val="dk1"/>
              </a:solidFill>
              <a:latin typeface="Calibri"/>
              <a:ea typeface="Calibri"/>
              <a:cs typeface="Calibri"/>
              <a:sym typeface="Calibri"/>
            </a:endParaRPr>
          </a:p>
        </p:txBody>
      </p:sp>
      <p:sp>
        <p:nvSpPr>
          <p:cNvPr id="230" name="Google Shape;230;p20"/>
          <p:cNvSpPr/>
          <p:nvPr/>
        </p:nvSpPr>
        <p:spPr>
          <a:xfrm>
            <a:off x="6263640" y="4434840"/>
            <a:ext cx="544068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20"/>
          <p:cNvSpPr/>
          <p:nvPr/>
        </p:nvSpPr>
        <p:spPr>
          <a:xfrm>
            <a:off x="6263640" y="443484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20"/>
          <p:cNvSpPr/>
          <p:nvPr/>
        </p:nvSpPr>
        <p:spPr>
          <a:xfrm>
            <a:off x="6446520" y="443484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WHAT'S NEXT</a:t>
            </a:r>
            <a:endParaRPr b="1" i="0" sz="1400" u="none" cap="none" strike="noStrike">
              <a:solidFill>
                <a:schemeClr val="dk1"/>
              </a:solidFill>
              <a:latin typeface="Calibri"/>
              <a:ea typeface="Calibri"/>
              <a:cs typeface="Calibri"/>
              <a:sym typeface="Calibri"/>
            </a:endParaRPr>
          </a:p>
        </p:txBody>
      </p:sp>
      <p:sp>
        <p:nvSpPr>
          <p:cNvPr id="233" name="Google Shape;233;p20"/>
          <p:cNvSpPr/>
          <p:nvPr/>
        </p:nvSpPr>
        <p:spPr>
          <a:xfrm>
            <a:off x="6446520" y="487680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50"/>
              <a:buFont typeface="Quattrocento Sans"/>
              <a:buNone/>
            </a:pPr>
            <a:r>
              <a:rPr lang="en-US">
                <a:solidFill>
                  <a:srgbClr val="23201F"/>
                </a:solidFill>
                <a:latin typeface="Quattrocento Sans"/>
                <a:ea typeface="Quattrocento Sans"/>
                <a:cs typeface="Quattrocento Sans"/>
                <a:sym typeface="Quattrocento Sans"/>
              </a:rPr>
              <a:t>The next phase brings AI directly into student learning through academy courses and library programming, informed by ongoing learning from regional and national leaders. </a:t>
            </a:r>
            <a:endParaRPr b="0" i="0" sz="1400" u="none" cap="none" strike="noStrike">
              <a:solidFill>
                <a:schemeClr val="dk1"/>
              </a:solidFill>
              <a:latin typeface="Calibri"/>
              <a:ea typeface="Calibri"/>
              <a:cs typeface="Calibri"/>
              <a:sym typeface="Calibri"/>
            </a:endParaRPr>
          </a:p>
        </p:txBody>
      </p:sp>
      <p:sp>
        <p:nvSpPr>
          <p:cNvPr id="234" name="Google Shape;234;p20"/>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“District AI Team” • PDF p. 1</a:t>
            </a:r>
            <a:endParaRPr b="0" i="0" sz="1400" u="none" cap="none" strike="noStrike">
              <a:solidFill>
                <a:schemeClr val="dk1"/>
              </a:solidFill>
              <a:latin typeface="Calibri"/>
              <a:ea typeface="Calibri"/>
              <a:cs typeface="Calibri"/>
              <a:sym typeface="Calibri"/>
            </a:endParaRPr>
          </a:p>
        </p:txBody>
      </p:sp>
      <p:sp>
        <p:nvSpPr>
          <p:cNvPr id="235" name="Google Shape;235;p20"/>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06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40" name="Shape 240"/>
        <p:cNvGrpSpPr/>
        <p:nvPr/>
      </p:nvGrpSpPr>
      <p:grpSpPr>
        <a:xfrm>
          <a:off x="0" y="0"/>
          <a:ext cx="0" cy="0"/>
          <a:chOff x="0" y="0"/>
          <a:chExt cx="0" cy="0"/>
        </a:xfrm>
      </p:grpSpPr>
      <p:sp>
        <p:nvSpPr>
          <p:cNvPr id="241" name="Google Shape;241;p21"/>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21"/>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03 (PAGE 1 OF 2)</a:t>
            </a:r>
            <a:endParaRPr b="1" i="0" sz="1400" u="none" cap="none" strike="noStrike">
              <a:solidFill>
                <a:schemeClr val="dk1"/>
              </a:solidFill>
              <a:latin typeface="Calibri"/>
              <a:ea typeface="Calibri"/>
              <a:cs typeface="Calibri"/>
              <a:sym typeface="Calibri"/>
            </a:endParaRPr>
          </a:p>
        </p:txBody>
      </p:sp>
      <p:sp>
        <p:nvSpPr>
          <p:cNvPr id="243" name="Google Shape;243;p21"/>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NOVA Academy</a:t>
            </a:r>
            <a:endParaRPr b="1" i="0" sz="2400" u="none" cap="none" strike="noStrike">
              <a:solidFill>
                <a:schemeClr val="dk1"/>
              </a:solidFill>
              <a:latin typeface="Calibri"/>
              <a:ea typeface="Calibri"/>
              <a:cs typeface="Calibri"/>
              <a:sym typeface="Calibri"/>
            </a:endParaRPr>
          </a:p>
        </p:txBody>
      </p:sp>
      <p:sp>
        <p:nvSpPr>
          <p:cNvPr id="244" name="Google Shape;244;p21"/>
          <p:cNvSpPr/>
          <p:nvPr/>
        </p:nvSpPr>
        <p:spPr>
          <a:xfrm>
            <a:off x="45720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p21"/>
          <p:cNvSpPr/>
          <p:nvPr/>
        </p:nvSpPr>
        <p:spPr>
          <a:xfrm>
            <a:off x="62179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500" u="none" cap="none" strike="noStrike">
                <a:solidFill>
                  <a:srgbClr val="7B4F9E"/>
                </a:solidFill>
                <a:latin typeface="Quattrocento Sans"/>
                <a:ea typeface="Quattrocento Sans"/>
                <a:cs typeface="Quattrocento Sans"/>
                <a:sym typeface="Quattrocento Sans"/>
              </a:rPr>
              <a:t>ORGANIZATION</a:t>
            </a:r>
            <a:endParaRPr b="1" i="0" sz="1500" u="none" cap="none" strike="noStrike">
              <a:solidFill>
                <a:schemeClr val="dk1"/>
              </a:solidFill>
              <a:latin typeface="Calibri"/>
              <a:ea typeface="Calibri"/>
              <a:cs typeface="Calibri"/>
              <a:sym typeface="Calibri"/>
            </a:endParaRPr>
          </a:p>
        </p:txBody>
      </p:sp>
      <p:sp>
        <p:nvSpPr>
          <p:cNvPr id="246" name="Google Shape;246;p21"/>
          <p:cNvSpPr/>
          <p:nvPr/>
        </p:nvSpPr>
        <p:spPr>
          <a:xfrm>
            <a:off x="62179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Red Apple</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RUSD | Grades 6–7</a:t>
            </a:r>
            <a:endParaRPr b="0" i="0" sz="1400" u="none" cap="none" strike="noStrike">
              <a:solidFill>
                <a:schemeClr val="dk1"/>
              </a:solidFill>
              <a:latin typeface="Calibri"/>
              <a:ea typeface="Calibri"/>
              <a:cs typeface="Calibri"/>
              <a:sym typeface="Calibri"/>
            </a:endParaRPr>
          </a:p>
        </p:txBody>
      </p:sp>
      <p:sp>
        <p:nvSpPr>
          <p:cNvPr id="247" name="Google Shape;247;p21"/>
          <p:cNvSpPr/>
          <p:nvPr/>
        </p:nvSpPr>
        <p:spPr>
          <a:xfrm>
            <a:off x="333756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1"/>
          <p:cNvSpPr/>
          <p:nvPr/>
        </p:nvSpPr>
        <p:spPr>
          <a:xfrm>
            <a:off x="350215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CONTACT SOURCE</a:t>
            </a:r>
            <a:endParaRPr b="1" i="0" sz="1400" u="none" cap="none" strike="noStrike">
              <a:solidFill>
                <a:schemeClr val="dk1"/>
              </a:solidFill>
              <a:latin typeface="Calibri"/>
              <a:ea typeface="Calibri"/>
              <a:cs typeface="Calibri"/>
              <a:sym typeface="Calibri"/>
            </a:endParaRPr>
          </a:p>
        </p:txBody>
      </p:sp>
      <p:sp>
        <p:nvSpPr>
          <p:cNvPr id="249" name="Google Shape;249;p21"/>
          <p:cNvSpPr/>
          <p:nvPr/>
        </p:nvSpPr>
        <p:spPr>
          <a:xfrm>
            <a:off x="350215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David Venne</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Arial"/>
                <a:ea typeface="Arial"/>
                <a:cs typeface="Arial"/>
                <a:sym typeface="Arial"/>
              </a:rPr>
              <a:t>david.venne@rusd.org</a:t>
            </a:r>
            <a:endParaRPr b="0" i="0" sz="1400" u="none" cap="none" strike="noStrike">
              <a:solidFill>
                <a:schemeClr val="dk1"/>
              </a:solidFill>
              <a:latin typeface="Calibri"/>
              <a:ea typeface="Calibri"/>
              <a:cs typeface="Calibri"/>
              <a:sym typeface="Calibri"/>
            </a:endParaRPr>
          </a:p>
        </p:txBody>
      </p:sp>
      <p:sp>
        <p:nvSpPr>
          <p:cNvPr id="250" name="Google Shape;250;p21"/>
          <p:cNvSpPr/>
          <p:nvPr/>
        </p:nvSpPr>
        <p:spPr>
          <a:xfrm>
            <a:off x="621792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21"/>
          <p:cNvSpPr/>
          <p:nvPr/>
        </p:nvSpPr>
        <p:spPr>
          <a:xfrm>
            <a:off x="638251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DATE IMPLEMENTED</a:t>
            </a:r>
            <a:endParaRPr b="1" i="0" sz="1400" u="none" cap="none" strike="noStrike">
              <a:solidFill>
                <a:schemeClr val="dk1"/>
              </a:solidFill>
              <a:latin typeface="Calibri"/>
              <a:ea typeface="Calibri"/>
              <a:cs typeface="Calibri"/>
              <a:sym typeface="Calibri"/>
            </a:endParaRPr>
          </a:p>
        </p:txBody>
      </p:sp>
      <p:sp>
        <p:nvSpPr>
          <p:cNvPr id="252" name="Google Shape;252;p21"/>
          <p:cNvSpPr/>
          <p:nvPr/>
        </p:nvSpPr>
        <p:spPr>
          <a:xfrm>
            <a:off x="638251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latin typeface="Quattrocento Sans"/>
                <a:ea typeface="Quattrocento Sans"/>
                <a:cs typeface="Quattrocento Sans"/>
                <a:sym typeface="Quattrocento Sans"/>
              </a:rPr>
              <a:t>August, 2026</a:t>
            </a:r>
            <a:endParaRPr b="0" i="0" sz="1400" u="none" cap="none" strike="noStrike">
              <a:solidFill>
                <a:schemeClr val="dk1"/>
              </a:solidFill>
              <a:latin typeface="Calibri"/>
              <a:ea typeface="Calibri"/>
              <a:cs typeface="Calibri"/>
              <a:sym typeface="Calibri"/>
            </a:endParaRPr>
          </a:p>
        </p:txBody>
      </p:sp>
      <p:sp>
        <p:nvSpPr>
          <p:cNvPr id="253" name="Google Shape;253;p21"/>
          <p:cNvSpPr/>
          <p:nvPr/>
        </p:nvSpPr>
        <p:spPr>
          <a:xfrm>
            <a:off x="909828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21"/>
          <p:cNvSpPr/>
          <p:nvPr/>
        </p:nvSpPr>
        <p:spPr>
          <a:xfrm>
            <a:off x="926287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STATUS</a:t>
            </a:r>
            <a:endParaRPr b="1" i="0" sz="1400" u="none" cap="none" strike="noStrike">
              <a:solidFill>
                <a:schemeClr val="dk1"/>
              </a:solidFill>
              <a:latin typeface="Calibri"/>
              <a:ea typeface="Calibri"/>
              <a:cs typeface="Calibri"/>
              <a:sym typeface="Calibri"/>
            </a:endParaRPr>
          </a:p>
        </p:txBody>
      </p:sp>
      <p:sp>
        <p:nvSpPr>
          <p:cNvPr id="255" name="Google Shape;255;p21"/>
          <p:cNvSpPr/>
          <p:nvPr/>
        </p:nvSpPr>
        <p:spPr>
          <a:xfrm>
            <a:off x="926287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latin typeface="Quattrocento Sans"/>
                <a:ea typeface="Quattrocento Sans"/>
                <a:cs typeface="Quattrocento Sans"/>
                <a:sym typeface="Quattrocento Sans"/>
              </a:rPr>
              <a:t>Currently Active</a:t>
            </a:r>
            <a:endParaRPr b="0" i="0" sz="1400" u="none" cap="none" strike="noStrike">
              <a:solidFill>
                <a:schemeClr val="dk1"/>
              </a:solidFill>
              <a:latin typeface="Calibri"/>
              <a:ea typeface="Calibri"/>
              <a:cs typeface="Calibri"/>
              <a:sym typeface="Calibri"/>
            </a:endParaRPr>
          </a:p>
        </p:txBody>
      </p:sp>
      <p:sp>
        <p:nvSpPr>
          <p:cNvPr id="256" name="Google Shape;256;p21"/>
          <p:cNvSpPr/>
          <p:nvPr/>
        </p:nvSpPr>
        <p:spPr>
          <a:xfrm>
            <a:off x="457200" y="2971800"/>
            <a:ext cx="562356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21"/>
          <p:cNvSpPr/>
          <p:nvPr/>
        </p:nvSpPr>
        <p:spPr>
          <a:xfrm>
            <a:off x="457200" y="2971800"/>
            <a:ext cx="5623560" cy="35052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21"/>
          <p:cNvSpPr/>
          <p:nvPr/>
        </p:nvSpPr>
        <p:spPr>
          <a:xfrm>
            <a:off x="640080" y="297180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2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THE CHALLENGE</a:t>
            </a:r>
            <a:endParaRPr b="1" i="0" sz="1400" u="none" cap="none" strike="noStrike">
              <a:solidFill>
                <a:schemeClr val="dk1"/>
              </a:solidFill>
              <a:latin typeface="Calibri"/>
              <a:ea typeface="Calibri"/>
              <a:cs typeface="Calibri"/>
              <a:sym typeface="Calibri"/>
            </a:endParaRPr>
          </a:p>
        </p:txBody>
      </p:sp>
      <p:sp>
        <p:nvSpPr>
          <p:cNvPr id="259" name="Google Shape;259;p21"/>
          <p:cNvSpPr/>
          <p:nvPr/>
        </p:nvSpPr>
        <p:spPr>
          <a:xfrm>
            <a:off x="640080" y="341376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Reimagine learning for grades 6–7 by putting students at the center through personalized learning, meaningful choice, hands-on experiences, and real-world problem solving. </a:t>
            </a:r>
            <a:endParaRPr b="0" i="0" sz="1400" u="none" cap="none" strike="noStrike">
              <a:solidFill>
                <a:schemeClr val="dk1"/>
              </a:solidFill>
              <a:latin typeface="Calibri"/>
              <a:ea typeface="Calibri"/>
              <a:cs typeface="Calibri"/>
              <a:sym typeface="Calibri"/>
            </a:endParaRPr>
          </a:p>
        </p:txBody>
      </p:sp>
      <p:sp>
        <p:nvSpPr>
          <p:cNvPr id="260" name="Google Shape;260;p21"/>
          <p:cNvSpPr/>
          <p:nvPr/>
        </p:nvSpPr>
        <p:spPr>
          <a:xfrm>
            <a:off x="6263640" y="2971800"/>
            <a:ext cx="544068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21"/>
          <p:cNvSpPr/>
          <p:nvPr/>
        </p:nvSpPr>
        <p:spPr>
          <a:xfrm>
            <a:off x="6263640" y="297180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21"/>
          <p:cNvSpPr/>
          <p:nvPr/>
        </p:nvSpPr>
        <p:spPr>
          <a:xfrm>
            <a:off x="6446520" y="297180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THE SOLUTION</a:t>
            </a:r>
            <a:endParaRPr b="1" i="0" sz="1400" u="none" cap="none" strike="noStrike">
              <a:solidFill>
                <a:schemeClr val="dk1"/>
              </a:solidFill>
              <a:latin typeface="Calibri"/>
              <a:ea typeface="Calibri"/>
              <a:cs typeface="Calibri"/>
              <a:sym typeface="Calibri"/>
            </a:endParaRPr>
          </a:p>
        </p:txBody>
      </p:sp>
      <p:sp>
        <p:nvSpPr>
          <p:cNvPr id="263" name="Google Shape;263;p21"/>
          <p:cNvSpPr/>
          <p:nvPr/>
        </p:nvSpPr>
        <p:spPr>
          <a:xfrm>
            <a:off x="6446520" y="3358676"/>
            <a:ext cx="5120700" cy="99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Questrial"/>
                <a:ea typeface="Questrial"/>
                <a:cs typeface="Questrial"/>
                <a:sym typeface="Questrial"/>
              </a:rPr>
              <a:t>Mornings: Personalized core instruction.</a:t>
            </a:r>
            <a:endParaRPr>
              <a:solidFill>
                <a:schemeClr val="dk1"/>
              </a:solidFill>
              <a:latin typeface="Questrial"/>
              <a:ea typeface="Questrial"/>
              <a:cs typeface="Questrial"/>
              <a:sym typeface="Questria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Questrial"/>
                <a:ea typeface="Questrial"/>
                <a:cs typeface="Questrial"/>
                <a:sym typeface="Questrial"/>
              </a:rPr>
              <a:t>Afternoons: Hands-on workshops, projects, and real-world problem solving.</a:t>
            </a:r>
            <a:endParaRPr>
              <a:solidFill>
                <a:schemeClr val="dk1"/>
              </a:solidFill>
              <a:latin typeface="Questrial"/>
              <a:ea typeface="Questrial"/>
              <a:cs typeface="Questrial"/>
              <a:sym typeface="Questrial"/>
            </a:endParaRPr>
          </a:p>
          <a:p>
            <a:pPr indent="0" lvl="0" marL="0" marR="0" rtl="0" algn="l">
              <a:lnSpc>
                <a:spcPct val="100000"/>
              </a:lnSpc>
              <a:spcBef>
                <a:spcPts val="1200"/>
              </a:spcBef>
              <a:spcAft>
                <a:spcPts val="0"/>
              </a:spcAft>
              <a:buClr>
                <a:srgbClr val="23201F"/>
              </a:buClr>
              <a:buSzPts val="1250"/>
              <a:buFont typeface="Quattrocento Sans"/>
              <a:buNone/>
            </a:pPr>
            <a:r>
              <a:t/>
            </a:r>
            <a:endParaRPr>
              <a:solidFill>
                <a:schemeClr val="dk1"/>
              </a:solidFill>
              <a:latin typeface="Questrial"/>
              <a:ea typeface="Questrial"/>
              <a:cs typeface="Questrial"/>
              <a:sym typeface="Questrial"/>
            </a:endParaRPr>
          </a:p>
        </p:txBody>
      </p:sp>
      <p:sp>
        <p:nvSpPr>
          <p:cNvPr id="264" name="Google Shape;264;p21"/>
          <p:cNvSpPr/>
          <p:nvPr/>
        </p:nvSpPr>
        <p:spPr>
          <a:xfrm>
            <a:off x="457200" y="4770120"/>
            <a:ext cx="11247120" cy="1143000"/>
          </a:xfrm>
          <a:prstGeom prst="roundRect">
            <a:avLst>
              <a:gd fmla="val 5714"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21"/>
          <p:cNvSpPr/>
          <p:nvPr/>
        </p:nvSpPr>
        <p:spPr>
          <a:xfrm>
            <a:off x="457200" y="4770120"/>
            <a:ext cx="137160" cy="114300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21"/>
          <p:cNvSpPr/>
          <p:nvPr/>
        </p:nvSpPr>
        <p:spPr>
          <a:xfrm>
            <a:off x="777240" y="481584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AI TOOLS &amp; PLATFORMS USED</a:t>
            </a:r>
            <a:endParaRPr b="1" i="0" sz="1400" u="none" cap="none" strike="noStrike">
              <a:solidFill>
                <a:schemeClr val="dk1"/>
              </a:solidFill>
              <a:latin typeface="Calibri"/>
              <a:ea typeface="Calibri"/>
              <a:cs typeface="Calibri"/>
              <a:sym typeface="Calibri"/>
            </a:endParaRPr>
          </a:p>
        </p:txBody>
      </p:sp>
      <p:sp>
        <p:nvSpPr>
          <p:cNvPr id="267" name="Google Shape;267;p21"/>
          <p:cNvSpPr/>
          <p:nvPr/>
        </p:nvSpPr>
        <p:spPr>
          <a:xfrm>
            <a:off x="777240" y="5212080"/>
            <a:ext cx="10881360" cy="5638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Questrial"/>
                <a:ea typeface="Questrial"/>
                <a:cs typeface="Questrial"/>
                <a:sym typeface="Questrial"/>
              </a:rPr>
              <a:t>A connected learning ecosystem using AI and adaptive platforms to personalize learning, target skills, and support student growth.</a:t>
            </a:r>
            <a:endParaRPr>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23201F"/>
              </a:buClr>
              <a:buSzPts val="1250"/>
              <a:buFont typeface="Quattrocento Sans"/>
              <a:buNone/>
            </a:pPr>
            <a:r>
              <a:rPr i="1" lang="en-US">
                <a:solidFill>
                  <a:schemeClr val="dk1"/>
                </a:solidFill>
                <a:latin typeface="Questrial"/>
                <a:ea typeface="Questrial"/>
                <a:cs typeface="Questrial"/>
                <a:sym typeface="Questrial"/>
              </a:rPr>
              <a:t>Featuring Khan Academy &amp; Khanmigo, IXL, Third Space, and Amira.</a:t>
            </a:r>
            <a:r>
              <a:rPr lang="en-US">
                <a:solidFill>
                  <a:schemeClr val="dk1"/>
                </a:solidFill>
                <a:latin typeface="Questrial"/>
                <a:ea typeface="Questrial"/>
                <a:cs typeface="Questrial"/>
                <a:sym typeface="Questrial"/>
              </a:rPr>
              <a:t> </a:t>
            </a:r>
            <a:endParaRPr sz="1700">
              <a:solidFill>
                <a:srgbClr val="23201F"/>
              </a:solidFill>
              <a:latin typeface="Questrial"/>
              <a:ea typeface="Questrial"/>
              <a:cs typeface="Questrial"/>
              <a:sym typeface="Questrial"/>
            </a:endParaRPr>
          </a:p>
        </p:txBody>
      </p:sp>
      <p:sp>
        <p:nvSpPr>
          <p:cNvPr id="268" name="Google Shape;268;p21"/>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“NOVA Academy” • PDF p. 1</a:t>
            </a:r>
            <a:endParaRPr b="0" i="0" sz="1400" u="none" cap="none" strike="noStrike">
              <a:solidFill>
                <a:schemeClr val="dk1"/>
              </a:solidFill>
              <a:latin typeface="Calibri"/>
              <a:ea typeface="Calibri"/>
              <a:cs typeface="Calibri"/>
              <a:sym typeface="Calibri"/>
            </a:endParaRPr>
          </a:p>
        </p:txBody>
      </p:sp>
      <p:sp>
        <p:nvSpPr>
          <p:cNvPr id="269" name="Google Shape;269;p21"/>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07 / 12</a:t>
            </a:r>
            <a:endParaRPr b="0" i="0" sz="1400" u="none" cap="none" strike="noStrike">
              <a:solidFill>
                <a:schemeClr val="dk1"/>
              </a:solidFill>
              <a:latin typeface="Calibri"/>
              <a:ea typeface="Calibri"/>
              <a:cs typeface="Calibri"/>
              <a:sym typeface="Calibri"/>
            </a:endParaRPr>
          </a:p>
        </p:txBody>
      </p:sp>
      <p:sp>
        <p:nvSpPr>
          <p:cNvPr id="270" name="Google Shape;270;p21"/>
          <p:cNvSpPr/>
          <p:nvPr/>
        </p:nvSpPr>
        <p:spPr>
          <a:xfrm>
            <a:off x="9540240" y="731520"/>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21"/>
          <p:cNvSpPr/>
          <p:nvPr/>
        </p:nvSpPr>
        <p:spPr>
          <a:xfrm>
            <a:off x="9618299" y="725944"/>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76" name="Shape 276"/>
        <p:cNvGrpSpPr/>
        <p:nvPr/>
      </p:nvGrpSpPr>
      <p:grpSpPr>
        <a:xfrm>
          <a:off x="0" y="0"/>
          <a:ext cx="0" cy="0"/>
          <a:chOff x="0" y="0"/>
          <a:chExt cx="0" cy="0"/>
        </a:xfrm>
      </p:grpSpPr>
      <p:sp>
        <p:nvSpPr>
          <p:cNvPr id="277" name="Google Shape;277;p22"/>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22"/>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03 (PAGE 2 OF 2)</a:t>
            </a:r>
            <a:endParaRPr b="1" i="0" sz="1400" u="none" cap="none" strike="noStrike">
              <a:solidFill>
                <a:schemeClr val="dk1"/>
              </a:solidFill>
              <a:latin typeface="Calibri"/>
              <a:ea typeface="Calibri"/>
              <a:cs typeface="Calibri"/>
              <a:sym typeface="Calibri"/>
            </a:endParaRPr>
          </a:p>
        </p:txBody>
      </p:sp>
      <p:sp>
        <p:nvSpPr>
          <p:cNvPr id="279" name="Google Shape;279;p22"/>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NOVA Academy</a:t>
            </a:r>
            <a:endParaRPr b="1" i="0" sz="2400" u="none" cap="none" strike="noStrike">
              <a:solidFill>
                <a:schemeClr val="dk1"/>
              </a:solidFill>
              <a:latin typeface="Calibri"/>
              <a:ea typeface="Calibri"/>
              <a:cs typeface="Calibri"/>
              <a:sym typeface="Calibri"/>
            </a:endParaRPr>
          </a:p>
        </p:txBody>
      </p:sp>
      <p:sp>
        <p:nvSpPr>
          <p:cNvPr id="280" name="Google Shape;280;p22"/>
          <p:cNvSpPr/>
          <p:nvPr/>
        </p:nvSpPr>
        <p:spPr>
          <a:xfrm>
            <a:off x="457200" y="1600200"/>
            <a:ext cx="11247120" cy="1051560"/>
          </a:xfrm>
          <a:prstGeom prst="roundRect">
            <a:avLst>
              <a:gd fmla="val 909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22"/>
          <p:cNvSpPr/>
          <p:nvPr/>
        </p:nvSpPr>
        <p:spPr>
          <a:xfrm>
            <a:off x="457200" y="1600200"/>
            <a:ext cx="137160" cy="105156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22"/>
          <p:cNvSpPr/>
          <p:nvPr/>
        </p:nvSpPr>
        <p:spPr>
          <a:xfrm>
            <a:off x="777240" y="164592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WHO BENEFITS</a:t>
            </a:r>
            <a:endParaRPr b="1" i="0" sz="1400" u="none" cap="none" strike="noStrike">
              <a:solidFill>
                <a:schemeClr val="dk1"/>
              </a:solidFill>
              <a:latin typeface="Calibri"/>
              <a:ea typeface="Calibri"/>
              <a:cs typeface="Calibri"/>
              <a:sym typeface="Calibri"/>
            </a:endParaRPr>
          </a:p>
        </p:txBody>
      </p:sp>
      <p:sp>
        <p:nvSpPr>
          <p:cNvPr id="283" name="Google Shape;283;p22"/>
          <p:cNvSpPr/>
          <p:nvPr/>
        </p:nvSpPr>
        <p:spPr>
          <a:xfrm>
            <a:off x="777240" y="204216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Grades 6–7 at Red Apple | 27 students | A potential model for expanding personalized, AI-supported learning across RUSD </a:t>
            </a:r>
            <a:endParaRPr b="0" i="0" sz="1400" u="none" cap="none" strike="noStrike">
              <a:solidFill>
                <a:schemeClr val="dk1"/>
              </a:solidFill>
              <a:latin typeface="Calibri"/>
              <a:ea typeface="Calibri"/>
              <a:cs typeface="Calibri"/>
              <a:sym typeface="Calibri"/>
            </a:endParaRPr>
          </a:p>
        </p:txBody>
      </p:sp>
      <p:sp>
        <p:nvSpPr>
          <p:cNvPr id="284" name="Google Shape;284;p22"/>
          <p:cNvSpPr/>
          <p:nvPr/>
        </p:nvSpPr>
        <p:spPr>
          <a:xfrm>
            <a:off x="457200" y="2788920"/>
            <a:ext cx="112471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OUTCOMES &amp; IMPACT — EARLY PARENT FEEDBACK, NOT MEASURED GAINS</a:t>
            </a:r>
            <a:endParaRPr b="1" i="0" sz="1400" u="none" cap="none" strike="noStrike">
              <a:solidFill>
                <a:schemeClr val="dk1"/>
              </a:solidFill>
              <a:latin typeface="Calibri"/>
              <a:ea typeface="Calibri"/>
              <a:cs typeface="Calibri"/>
              <a:sym typeface="Calibri"/>
            </a:endParaRPr>
          </a:p>
        </p:txBody>
      </p:sp>
      <p:sp>
        <p:nvSpPr>
          <p:cNvPr id="285" name="Google Shape;285;p22"/>
          <p:cNvSpPr/>
          <p:nvPr/>
        </p:nvSpPr>
        <p:spPr>
          <a:xfrm>
            <a:off x="4572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22"/>
          <p:cNvSpPr/>
          <p:nvPr/>
        </p:nvSpPr>
        <p:spPr>
          <a:xfrm>
            <a:off x="5943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Eagerness</a:t>
            </a:r>
            <a:endParaRPr b="1" i="0" sz="3200" u="none" cap="none" strike="noStrike">
              <a:solidFill>
                <a:schemeClr val="dk1"/>
              </a:solidFill>
              <a:latin typeface="Calibri"/>
              <a:ea typeface="Calibri"/>
              <a:cs typeface="Calibri"/>
              <a:sym typeface="Calibri"/>
            </a:endParaRPr>
          </a:p>
        </p:txBody>
      </p:sp>
      <p:sp>
        <p:nvSpPr>
          <p:cNvPr id="287" name="Google Shape;287;p22"/>
          <p:cNvSpPr/>
          <p:nvPr/>
        </p:nvSpPr>
        <p:spPr>
          <a:xfrm>
            <a:off x="5943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school enthusiasm</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2926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22"/>
          <p:cNvSpPr/>
          <p:nvPr/>
        </p:nvSpPr>
        <p:spPr>
          <a:xfrm>
            <a:off x="44297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Confidence</a:t>
            </a:r>
            <a:endParaRPr b="1" i="0" sz="3200" u="none" cap="none" strike="noStrike">
              <a:solidFill>
                <a:schemeClr val="dk1"/>
              </a:solidFill>
              <a:latin typeface="Calibri"/>
              <a:ea typeface="Calibri"/>
              <a:cs typeface="Calibri"/>
              <a:sym typeface="Calibri"/>
            </a:endParaRPr>
          </a:p>
        </p:txBody>
      </p:sp>
      <p:sp>
        <p:nvSpPr>
          <p:cNvPr id="290" name="Google Shape;290;p22"/>
          <p:cNvSpPr/>
          <p:nvPr/>
        </p:nvSpPr>
        <p:spPr>
          <a:xfrm>
            <a:off x="44297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trying, leading, helping</a:t>
            </a:r>
            <a:endParaRPr b="0" i="0" sz="1400" u="none" cap="none" strike="noStrike">
              <a:solidFill>
                <a:schemeClr val="dk1"/>
              </a:solidFill>
              <a:latin typeface="Calibri"/>
              <a:ea typeface="Calibri"/>
              <a:cs typeface="Calibri"/>
              <a:sym typeface="Calibri"/>
            </a:endParaRPr>
          </a:p>
        </p:txBody>
      </p:sp>
      <p:sp>
        <p:nvSpPr>
          <p:cNvPr id="291" name="Google Shape;291;p22"/>
          <p:cNvSpPr/>
          <p:nvPr/>
        </p:nvSpPr>
        <p:spPr>
          <a:xfrm>
            <a:off x="81280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p22"/>
          <p:cNvSpPr/>
          <p:nvPr/>
        </p:nvSpPr>
        <p:spPr>
          <a:xfrm>
            <a:off x="82651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lang="en-US" sz="3200">
                <a:solidFill>
                  <a:srgbClr val="FFB900"/>
                </a:solidFill>
                <a:latin typeface="Quattrocento Sans"/>
                <a:ea typeface="Quattrocento Sans"/>
                <a:cs typeface="Quattrocento Sans"/>
                <a:sym typeface="Quattrocento Sans"/>
              </a:rPr>
              <a:t>27</a:t>
            </a:r>
            <a:endParaRPr b="1" i="0" sz="3200" u="none" cap="none" strike="noStrike">
              <a:solidFill>
                <a:schemeClr val="dk1"/>
              </a:solidFill>
              <a:latin typeface="Calibri"/>
              <a:ea typeface="Calibri"/>
              <a:cs typeface="Calibri"/>
              <a:sym typeface="Calibri"/>
            </a:endParaRPr>
          </a:p>
        </p:txBody>
      </p:sp>
      <p:sp>
        <p:nvSpPr>
          <p:cNvPr id="293" name="Google Shape;293;p22"/>
          <p:cNvSpPr/>
          <p:nvPr/>
        </p:nvSpPr>
        <p:spPr>
          <a:xfrm>
            <a:off x="82651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Students</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457200" y="4434840"/>
            <a:ext cx="562356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22"/>
          <p:cNvSpPr/>
          <p:nvPr/>
        </p:nvSpPr>
        <p:spPr>
          <a:xfrm>
            <a:off x="457200" y="4434840"/>
            <a:ext cx="5623560" cy="35052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22"/>
          <p:cNvSpPr/>
          <p:nvPr/>
        </p:nvSpPr>
        <p:spPr>
          <a:xfrm>
            <a:off x="640080" y="443484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RESPONSIBLE AI CONSIDERATIONS</a:t>
            </a:r>
            <a:endParaRPr b="1" i="0" sz="1400" u="none" cap="none" strike="noStrike">
              <a:solidFill>
                <a:schemeClr val="dk1"/>
              </a:solidFill>
              <a:latin typeface="Calibri"/>
              <a:ea typeface="Calibri"/>
              <a:cs typeface="Calibri"/>
              <a:sym typeface="Calibri"/>
            </a:endParaRPr>
          </a:p>
        </p:txBody>
      </p:sp>
      <p:sp>
        <p:nvSpPr>
          <p:cNvPr id="297" name="Google Shape;297;p22"/>
          <p:cNvSpPr/>
          <p:nvPr/>
        </p:nvSpPr>
        <p:spPr>
          <a:xfrm>
            <a:off x="640080" y="487680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50"/>
              <a:buFont typeface="Quattrocento Sans"/>
              <a:buNone/>
            </a:pPr>
            <a:r>
              <a:rPr lang="en-US">
                <a:solidFill>
                  <a:srgbClr val="23201F"/>
                </a:solidFill>
                <a:latin typeface="Quattrocento Sans"/>
                <a:ea typeface="Quattrocento Sans"/>
                <a:cs typeface="Quattrocento Sans"/>
                <a:sym typeface="Quattrocento Sans"/>
              </a:rPr>
              <a:t>AI supports learning, not replaces it. NOVA emphasizes thoughtful, responsible use of AI while keeping student voice, choice, creativity, and human connection at the center. </a:t>
            </a:r>
            <a:endParaRPr b="0" i="0" sz="1400" u="none" cap="none" strike="noStrike">
              <a:solidFill>
                <a:schemeClr val="dk1"/>
              </a:solidFill>
              <a:latin typeface="Calibri"/>
              <a:ea typeface="Calibri"/>
              <a:cs typeface="Calibri"/>
              <a:sym typeface="Calibri"/>
            </a:endParaRPr>
          </a:p>
        </p:txBody>
      </p:sp>
      <p:sp>
        <p:nvSpPr>
          <p:cNvPr id="298" name="Google Shape;298;p22"/>
          <p:cNvSpPr/>
          <p:nvPr/>
        </p:nvSpPr>
        <p:spPr>
          <a:xfrm>
            <a:off x="6263640" y="4434840"/>
            <a:ext cx="544068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22"/>
          <p:cNvSpPr/>
          <p:nvPr/>
        </p:nvSpPr>
        <p:spPr>
          <a:xfrm>
            <a:off x="6263640" y="443484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22"/>
          <p:cNvSpPr/>
          <p:nvPr/>
        </p:nvSpPr>
        <p:spPr>
          <a:xfrm>
            <a:off x="6446520" y="443484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WHAT'S NEXT</a:t>
            </a:r>
            <a:endParaRPr b="1" i="0" sz="1400" u="none" cap="none" strike="noStrike">
              <a:solidFill>
                <a:schemeClr val="dk1"/>
              </a:solidFill>
              <a:latin typeface="Calibri"/>
              <a:ea typeface="Calibri"/>
              <a:cs typeface="Calibri"/>
              <a:sym typeface="Calibri"/>
            </a:endParaRPr>
          </a:p>
        </p:txBody>
      </p:sp>
      <p:sp>
        <p:nvSpPr>
          <p:cNvPr id="301" name="Google Shape;301;p22"/>
          <p:cNvSpPr/>
          <p:nvPr/>
        </p:nvSpPr>
        <p:spPr>
          <a:xfrm>
            <a:off x="6446520" y="487680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50"/>
              <a:buFont typeface="Quattrocento Sans"/>
              <a:buNone/>
            </a:pPr>
            <a:r>
              <a:rPr lang="en-US">
                <a:solidFill>
                  <a:srgbClr val="23201F"/>
                </a:solidFill>
                <a:latin typeface="Quattrocento Sans"/>
                <a:ea typeface="Quattrocento Sans"/>
                <a:cs typeface="Quattrocento Sans"/>
                <a:sym typeface="Quattrocento Sans"/>
              </a:rPr>
              <a:t>Expand to additional cohorts, creating opportunities for more students to experience the NOVA model. </a:t>
            </a:r>
            <a:endParaRPr b="0" i="0" sz="1400" u="none" cap="none" strike="noStrike">
              <a:solidFill>
                <a:schemeClr val="dk1"/>
              </a:solidFill>
              <a:latin typeface="Calibri"/>
              <a:ea typeface="Calibri"/>
              <a:cs typeface="Calibri"/>
              <a:sym typeface="Calibri"/>
            </a:endParaRPr>
          </a:p>
        </p:txBody>
      </p:sp>
      <p:sp>
        <p:nvSpPr>
          <p:cNvPr id="302" name="Google Shape;302;p22"/>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Venne • Sep 14, 2026 • PDF pp. 1–2 • Parent email: Sep 3, 2026</a:t>
            </a:r>
            <a:endParaRPr b="0" i="0" sz="1400" u="none" cap="none" strike="noStrike">
              <a:solidFill>
                <a:schemeClr val="dk1"/>
              </a:solidFill>
              <a:latin typeface="Calibri"/>
              <a:ea typeface="Calibri"/>
              <a:cs typeface="Calibri"/>
              <a:sym typeface="Calibri"/>
            </a:endParaRPr>
          </a:p>
        </p:txBody>
      </p:sp>
      <p:sp>
        <p:nvSpPr>
          <p:cNvPr id="303" name="Google Shape;303;p22"/>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08 / 12</a:t>
            </a:r>
            <a:endParaRPr b="0" i="0" sz="1400" u="none" cap="none" strike="noStrike">
              <a:solidFill>
                <a:schemeClr val="dk1"/>
              </a:solidFill>
              <a:latin typeface="Calibri"/>
              <a:ea typeface="Calibri"/>
              <a:cs typeface="Calibri"/>
              <a:sym typeface="Calibri"/>
            </a:endParaRPr>
          </a:p>
        </p:txBody>
      </p:sp>
      <p:sp>
        <p:nvSpPr>
          <p:cNvPr id="304" name="Google Shape;304;p22"/>
          <p:cNvSpPr/>
          <p:nvPr/>
        </p:nvSpPr>
        <p:spPr>
          <a:xfrm>
            <a:off x="9540240" y="731520"/>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22"/>
          <p:cNvSpPr/>
          <p:nvPr/>
        </p:nvSpPr>
        <p:spPr>
          <a:xfrm>
            <a:off x="9543957" y="725944"/>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10" name="Shape 310"/>
        <p:cNvGrpSpPr/>
        <p:nvPr/>
      </p:nvGrpSpPr>
      <p:grpSpPr>
        <a:xfrm>
          <a:off x="0" y="0"/>
          <a:ext cx="0" cy="0"/>
          <a:chOff x="0" y="0"/>
          <a:chExt cx="0" cy="0"/>
        </a:xfrm>
      </p:grpSpPr>
      <p:sp>
        <p:nvSpPr>
          <p:cNvPr id="311" name="Google Shape;311;p23"/>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23"/>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04 (PAGE 1 OF 2)</a:t>
            </a:r>
            <a:endParaRPr b="1" i="0" sz="1400" u="none" cap="none" strike="noStrike">
              <a:solidFill>
                <a:schemeClr val="dk1"/>
              </a:solidFill>
              <a:latin typeface="Calibri"/>
              <a:ea typeface="Calibri"/>
              <a:cs typeface="Calibri"/>
              <a:sym typeface="Calibri"/>
            </a:endParaRPr>
          </a:p>
        </p:txBody>
      </p:sp>
      <p:sp>
        <p:nvSpPr>
          <p:cNvPr id="313" name="Google Shape;313;p23"/>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JA STEAM Girls</a:t>
            </a:r>
            <a:endParaRPr b="1" i="0" sz="2400" u="none" cap="none" strike="noStrike">
              <a:solidFill>
                <a:schemeClr val="dk1"/>
              </a:solidFill>
              <a:latin typeface="Calibri"/>
              <a:ea typeface="Calibri"/>
              <a:cs typeface="Calibri"/>
              <a:sym typeface="Calibri"/>
            </a:endParaRPr>
          </a:p>
        </p:txBody>
      </p:sp>
      <p:sp>
        <p:nvSpPr>
          <p:cNvPr id="314" name="Google Shape;314;p23"/>
          <p:cNvSpPr/>
          <p:nvPr/>
        </p:nvSpPr>
        <p:spPr>
          <a:xfrm>
            <a:off x="9540240" y="685056"/>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23"/>
          <p:cNvSpPr/>
          <p:nvPr/>
        </p:nvSpPr>
        <p:spPr>
          <a:xfrm>
            <a:off x="9540240" y="731520"/>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
        <p:nvSpPr>
          <p:cNvPr id="316" name="Google Shape;316;p23"/>
          <p:cNvSpPr/>
          <p:nvPr/>
        </p:nvSpPr>
        <p:spPr>
          <a:xfrm>
            <a:off x="45720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23"/>
          <p:cNvSpPr/>
          <p:nvPr/>
        </p:nvSpPr>
        <p:spPr>
          <a:xfrm>
            <a:off x="62179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500" u="none" cap="none" strike="noStrike">
                <a:solidFill>
                  <a:srgbClr val="7B4F9E"/>
                </a:solidFill>
                <a:latin typeface="Quattrocento Sans"/>
                <a:ea typeface="Quattrocento Sans"/>
                <a:cs typeface="Quattrocento Sans"/>
                <a:sym typeface="Quattrocento Sans"/>
              </a:rPr>
              <a:t>ORGANIZATION</a:t>
            </a:r>
            <a:endParaRPr b="1" i="0" sz="1500" u="none" cap="none" strike="noStrike">
              <a:solidFill>
                <a:schemeClr val="dk1"/>
              </a:solidFill>
              <a:latin typeface="Calibri"/>
              <a:ea typeface="Calibri"/>
              <a:cs typeface="Calibri"/>
              <a:sym typeface="Calibri"/>
            </a:endParaRPr>
          </a:p>
        </p:txBody>
      </p:sp>
      <p:sp>
        <p:nvSpPr>
          <p:cNvPr id="318" name="Google Shape;318;p23"/>
          <p:cNvSpPr/>
          <p:nvPr/>
        </p:nvSpPr>
        <p:spPr>
          <a:xfrm>
            <a:off x="62179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RUSD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JA STEAM Girls</a:t>
            </a:r>
            <a:endParaRPr b="0" i="0" sz="1400" u="none" cap="none" strike="noStrike">
              <a:solidFill>
                <a:schemeClr val="dk1"/>
              </a:solidFill>
              <a:latin typeface="Calibri"/>
              <a:ea typeface="Calibri"/>
              <a:cs typeface="Calibri"/>
              <a:sym typeface="Calibri"/>
            </a:endParaRPr>
          </a:p>
        </p:txBody>
      </p:sp>
      <p:sp>
        <p:nvSpPr>
          <p:cNvPr id="319" name="Google Shape;319;p23"/>
          <p:cNvSpPr/>
          <p:nvPr/>
        </p:nvSpPr>
        <p:spPr>
          <a:xfrm>
            <a:off x="333756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p23"/>
          <p:cNvSpPr/>
          <p:nvPr/>
        </p:nvSpPr>
        <p:spPr>
          <a:xfrm>
            <a:off x="350215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CONTACT SOURCE</a:t>
            </a:r>
            <a:endParaRPr b="1" i="0" sz="1400" u="none" cap="none" strike="noStrike">
              <a:solidFill>
                <a:schemeClr val="dk1"/>
              </a:solidFill>
              <a:latin typeface="Calibri"/>
              <a:ea typeface="Calibri"/>
              <a:cs typeface="Calibri"/>
              <a:sym typeface="Calibri"/>
            </a:endParaRPr>
          </a:p>
        </p:txBody>
      </p:sp>
      <p:sp>
        <p:nvSpPr>
          <p:cNvPr id="321" name="Google Shape;321;p23"/>
          <p:cNvSpPr/>
          <p:nvPr/>
        </p:nvSpPr>
        <p:spPr>
          <a:xfrm>
            <a:off x="350215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David Venne</a:t>
            </a:r>
            <a:endParaRPr b="0" i="0" sz="1400" u="none" cap="none" strike="noStrike">
              <a:solidFill>
                <a:srgbClr val="23201F"/>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rPr>
              <a:t>david.venne@rusd.org</a:t>
            </a:r>
            <a:br>
              <a:rPr b="0" i="0" lang="en-US" sz="1400" u="none" cap="none" strike="noStrike">
                <a:solidFill>
                  <a:srgbClr val="23201F"/>
                </a:solidFill>
                <a:latin typeface="Quattrocento Sans"/>
                <a:ea typeface="Quattrocento Sans"/>
                <a:cs typeface="Quattrocento Sans"/>
                <a:sym typeface="Quattrocento Sans"/>
              </a:rPr>
            </a:br>
            <a:endParaRPr b="0" i="0" sz="1400" u="none" cap="none" strike="noStrike">
              <a:solidFill>
                <a:schemeClr val="dk1"/>
              </a:solidFill>
              <a:latin typeface="Calibri"/>
              <a:ea typeface="Calibri"/>
              <a:cs typeface="Calibri"/>
              <a:sym typeface="Calibri"/>
            </a:endParaRPr>
          </a:p>
        </p:txBody>
      </p:sp>
      <p:sp>
        <p:nvSpPr>
          <p:cNvPr id="322" name="Google Shape;322;p23"/>
          <p:cNvSpPr/>
          <p:nvPr/>
        </p:nvSpPr>
        <p:spPr>
          <a:xfrm>
            <a:off x="621792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3"/>
          <p:cNvSpPr/>
          <p:nvPr/>
        </p:nvSpPr>
        <p:spPr>
          <a:xfrm>
            <a:off x="638251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DATE IMPLEMENTED</a:t>
            </a:r>
            <a:endParaRPr b="1" i="0" sz="1400" u="none" cap="none" strike="noStrike">
              <a:solidFill>
                <a:schemeClr val="dk1"/>
              </a:solidFill>
              <a:latin typeface="Calibri"/>
              <a:ea typeface="Calibri"/>
              <a:cs typeface="Calibri"/>
              <a:sym typeface="Calibri"/>
            </a:endParaRPr>
          </a:p>
        </p:txBody>
      </p:sp>
      <p:sp>
        <p:nvSpPr>
          <p:cNvPr id="324" name="Google Shape;324;p23"/>
          <p:cNvSpPr/>
          <p:nvPr/>
        </p:nvSpPr>
        <p:spPr>
          <a:xfrm>
            <a:off x="638251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Summer 2026</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Program revamped</a:t>
            </a:r>
            <a:endParaRPr b="0" i="0" sz="1400" u="none" cap="none" strike="noStrike">
              <a:solidFill>
                <a:schemeClr val="dk1"/>
              </a:solidFill>
              <a:latin typeface="Calibri"/>
              <a:ea typeface="Calibri"/>
              <a:cs typeface="Calibri"/>
              <a:sym typeface="Calibri"/>
            </a:endParaRPr>
          </a:p>
        </p:txBody>
      </p:sp>
      <p:sp>
        <p:nvSpPr>
          <p:cNvPr id="325" name="Google Shape;325;p23"/>
          <p:cNvSpPr/>
          <p:nvPr/>
        </p:nvSpPr>
        <p:spPr>
          <a:xfrm>
            <a:off x="909828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23"/>
          <p:cNvSpPr/>
          <p:nvPr/>
        </p:nvSpPr>
        <p:spPr>
          <a:xfrm>
            <a:off x="926287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STATUS</a:t>
            </a:r>
            <a:endParaRPr b="1" i="0" sz="1400" u="none" cap="none" strike="noStrike">
              <a:solidFill>
                <a:schemeClr val="dk1"/>
              </a:solidFill>
              <a:latin typeface="Calibri"/>
              <a:ea typeface="Calibri"/>
              <a:cs typeface="Calibri"/>
              <a:sym typeface="Calibri"/>
            </a:endParaRPr>
          </a:p>
        </p:txBody>
      </p:sp>
      <p:sp>
        <p:nvSpPr>
          <p:cNvPr id="327" name="Google Shape;327;p23"/>
          <p:cNvSpPr/>
          <p:nvPr/>
        </p:nvSpPr>
        <p:spPr>
          <a:xfrm>
            <a:off x="926287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Program active</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~40 enrolled</a:t>
            </a:r>
            <a:endParaRPr b="0" i="0" sz="1400" u="none" cap="none" strike="noStrike">
              <a:solidFill>
                <a:schemeClr val="dk1"/>
              </a:solidFill>
              <a:latin typeface="Calibri"/>
              <a:ea typeface="Calibri"/>
              <a:cs typeface="Calibri"/>
              <a:sym typeface="Calibri"/>
            </a:endParaRPr>
          </a:p>
        </p:txBody>
      </p:sp>
      <p:sp>
        <p:nvSpPr>
          <p:cNvPr id="328" name="Google Shape;328;p23"/>
          <p:cNvSpPr/>
          <p:nvPr/>
        </p:nvSpPr>
        <p:spPr>
          <a:xfrm>
            <a:off x="457200" y="2971800"/>
            <a:ext cx="562356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23"/>
          <p:cNvSpPr/>
          <p:nvPr/>
        </p:nvSpPr>
        <p:spPr>
          <a:xfrm>
            <a:off x="457200" y="2971800"/>
            <a:ext cx="5623560" cy="35052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23"/>
          <p:cNvSpPr/>
          <p:nvPr/>
        </p:nvSpPr>
        <p:spPr>
          <a:xfrm>
            <a:off x="640080" y="297180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2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THE CHALLENGE</a:t>
            </a:r>
            <a:endParaRPr b="1" i="0" sz="1400" u="none" cap="none" strike="noStrike">
              <a:solidFill>
                <a:schemeClr val="dk1"/>
              </a:solidFill>
              <a:latin typeface="Calibri"/>
              <a:ea typeface="Calibri"/>
              <a:cs typeface="Calibri"/>
              <a:sym typeface="Calibri"/>
            </a:endParaRPr>
          </a:p>
        </p:txBody>
      </p:sp>
      <p:sp>
        <p:nvSpPr>
          <p:cNvPr id="331" name="Google Shape;331;p23"/>
          <p:cNvSpPr/>
          <p:nvPr/>
        </p:nvSpPr>
        <p:spPr>
          <a:xfrm>
            <a:off x="640080" y="3413760"/>
            <a:ext cx="530352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Inspire girls to explore STEAM through hands-on experiences, real-world applications, and connections to careers shaping the future of technology, including AI. </a:t>
            </a:r>
            <a:endParaRPr b="0" i="0" sz="1400" u="none" cap="none" strike="noStrike">
              <a:solidFill>
                <a:schemeClr val="dk1"/>
              </a:solidFill>
              <a:latin typeface="Calibri"/>
              <a:ea typeface="Calibri"/>
              <a:cs typeface="Calibri"/>
              <a:sym typeface="Calibri"/>
            </a:endParaRPr>
          </a:p>
        </p:txBody>
      </p:sp>
      <p:sp>
        <p:nvSpPr>
          <p:cNvPr id="332" name="Google Shape;332;p23"/>
          <p:cNvSpPr/>
          <p:nvPr/>
        </p:nvSpPr>
        <p:spPr>
          <a:xfrm>
            <a:off x="6263640" y="2971800"/>
            <a:ext cx="544068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23"/>
          <p:cNvSpPr/>
          <p:nvPr/>
        </p:nvSpPr>
        <p:spPr>
          <a:xfrm>
            <a:off x="6263640" y="297180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p23"/>
          <p:cNvSpPr/>
          <p:nvPr/>
        </p:nvSpPr>
        <p:spPr>
          <a:xfrm>
            <a:off x="6446520" y="297180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THE SOLUTION</a:t>
            </a:r>
            <a:endParaRPr b="1" i="0" sz="1400" u="none" cap="none" strike="noStrike">
              <a:solidFill>
                <a:schemeClr val="dk1"/>
              </a:solidFill>
              <a:latin typeface="Calibri"/>
              <a:ea typeface="Calibri"/>
              <a:cs typeface="Calibri"/>
              <a:sym typeface="Calibri"/>
            </a:endParaRPr>
          </a:p>
        </p:txBody>
      </p:sp>
      <p:sp>
        <p:nvSpPr>
          <p:cNvPr id="335" name="Google Shape;335;p23"/>
          <p:cNvSpPr/>
          <p:nvPr/>
        </p:nvSpPr>
        <p:spPr>
          <a:xfrm>
            <a:off x="6446520" y="341376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Program revamped in summer 2026 to incorporate emerging technologies, including AI, while maintaining hands-on career exploration.</a:t>
            </a:r>
            <a:endParaRPr b="0" i="0" sz="1400" u="none" cap="none" strike="noStrike">
              <a:solidFill>
                <a:schemeClr val="dk1"/>
              </a:solidFill>
              <a:latin typeface="Calibri"/>
              <a:ea typeface="Calibri"/>
              <a:cs typeface="Calibri"/>
              <a:sym typeface="Calibri"/>
            </a:endParaRPr>
          </a:p>
        </p:txBody>
      </p:sp>
      <p:sp>
        <p:nvSpPr>
          <p:cNvPr id="336" name="Google Shape;336;p23"/>
          <p:cNvSpPr/>
          <p:nvPr/>
        </p:nvSpPr>
        <p:spPr>
          <a:xfrm>
            <a:off x="457200" y="4770120"/>
            <a:ext cx="11247120" cy="1143000"/>
          </a:xfrm>
          <a:prstGeom prst="roundRect">
            <a:avLst>
              <a:gd fmla="val 5714"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23"/>
          <p:cNvSpPr/>
          <p:nvPr/>
        </p:nvSpPr>
        <p:spPr>
          <a:xfrm>
            <a:off x="457200" y="4770120"/>
            <a:ext cx="137160" cy="114300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23"/>
          <p:cNvSpPr/>
          <p:nvPr/>
        </p:nvSpPr>
        <p:spPr>
          <a:xfrm>
            <a:off x="777240" y="481584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AI TOOLS &amp; PLATFORMS USED</a:t>
            </a:r>
            <a:endParaRPr b="1" i="0" sz="1400" u="none" cap="none" strike="noStrike">
              <a:solidFill>
                <a:schemeClr val="dk1"/>
              </a:solidFill>
              <a:latin typeface="Calibri"/>
              <a:ea typeface="Calibri"/>
              <a:cs typeface="Calibri"/>
              <a:sym typeface="Calibri"/>
            </a:endParaRPr>
          </a:p>
        </p:txBody>
      </p:sp>
      <p:sp>
        <p:nvSpPr>
          <p:cNvPr id="339" name="Google Shape;339;p23"/>
          <p:cNvSpPr/>
          <p:nvPr/>
        </p:nvSpPr>
        <p:spPr>
          <a:xfrm>
            <a:off x="777240" y="521208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AI and emerging technologies were added to the program, with participants using tools such as Gemini and NotebookLM, along with hands-on technology including Tinkercad, Cricut, and Code.org. </a:t>
            </a:r>
            <a:endParaRPr b="0" i="0" sz="1400" u="none" cap="none" strike="noStrike">
              <a:solidFill>
                <a:schemeClr val="dk1"/>
              </a:solidFill>
              <a:latin typeface="Calibri"/>
              <a:ea typeface="Calibri"/>
              <a:cs typeface="Calibri"/>
              <a:sym typeface="Calibri"/>
            </a:endParaRPr>
          </a:p>
        </p:txBody>
      </p:sp>
      <p:sp>
        <p:nvSpPr>
          <p:cNvPr id="340" name="Google Shape;340;p23"/>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“JA STEAM Girls” • PDF p. 2</a:t>
            </a:r>
            <a:endParaRPr b="0" i="0" sz="1400" u="none" cap="none" strike="noStrike">
              <a:solidFill>
                <a:schemeClr val="dk1"/>
              </a:solidFill>
              <a:latin typeface="Calibri"/>
              <a:ea typeface="Calibri"/>
              <a:cs typeface="Calibri"/>
              <a:sym typeface="Calibri"/>
            </a:endParaRPr>
          </a:p>
        </p:txBody>
      </p:sp>
      <p:sp>
        <p:nvSpPr>
          <p:cNvPr id="341" name="Google Shape;341;p23"/>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09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46" name="Shape 346"/>
        <p:cNvGrpSpPr/>
        <p:nvPr/>
      </p:nvGrpSpPr>
      <p:grpSpPr>
        <a:xfrm>
          <a:off x="0" y="0"/>
          <a:ext cx="0" cy="0"/>
          <a:chOff x="0" y="0"/>
          <a:chExt cx="0" cy="0"/>
        </a:xfrm>
      </p:grpSpPr>
      <p:sp>
        <p:nvSpPr>
          <p:cNvPr id="347" name="Google Shape;347;p24"/>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24"/>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AI SNAPSHOT — SPARK 04 (PAGE 2 OF 2)</a:t>
            </a:r>
            <a:endParaRPr b="1" i="0" sz="1400" u="none" cap="none" strike="noStrike">
              <a:solidFill>
                <a:schemeClr val="dk1"/>
              </a:solidFill>
              <a:latin typeface="Calibri"/>
              <a:ea typeface="Calibri"/>
              <a:cs typeface="Calibri"/>
              <a:sym typeface="Calibri"/>
            </a:endParaRPr>
          </a:p>
        </p:txBody>
      </p:sp>
      <p:sp>
        <p:nvSpPr>
          <p:cNvPr id="349" name="Google Shape;349;p24"/>
          <p:cNvSpPr/>
          <p:nvPr/>
        </p:nvSpPr>
        <p:spPr>
          <a:xfrm>
            <a:off x="457200" y="853440"/>
            <a:ext cx="8686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JA STEAM Girls</a:t>
            </a:r>
            <a:endParaRPr b="1" i="0" sz="2400" u="none" cap="none" strike="noStrike">
              <a:solidFill>
                <a:schemeClr val="dk1"/>
              </a:solidFill>
              <a:latin typeface="Calibri"/>
              <a:ea typeface="Calibri"/>
              <a:cs typeface="Calibri"/>
              <a:sym typeface="Calibri"/>
            </a:endParaRPr>
          </a:p>
        </p:txBody>
      </p:sp>
      <p:sp>
        <p:nvSpPr>
          <p:cNvPr id="350" name="Google Shape;350;p24"/>
          <p:cNvSpPr/>
          <p:nvPr/>
        </p:nvSpPr>
        <p:spPr>
          <a:xfrm>
            <a:off x="9493777" y="685057"/>
            <a:ext cx="2194560" cy="563880"/>
          </a:xfrm>
          <a:prstGeom prst="roundRect">
            <a:avLst>
              <a:gd fmla="val 49091" name="adj"/>
            </a:avLst>
          </a:prstGeom>
          <a:solidFill>
            <a:srgbClr val="7B4F9E"/>
          </a:solidFill>
          <a:ln cap="flat" cmpd="sng" w="1905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24"/>
          <p:cNvSpPr/>
          <p:nvPr/>
        </p:nvSpPr>
        <p:spPr>
          <a:xfrm>
            <a:off x="9540240" y="731520"/>
            <a:ext cx="2194560" cy="563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Student Success</a:t>
            </a:r>
            <a:endParaRPr b="1" i="0" sz="1400" u="none" cap="none" strike="noStrike">
              <a:solidFill>
                <a:schemeClr val="dk1"/>
              </a:solidFill>
              <a:latin typeface="Calibri"/>
              <a:ea typeface="Calibri"/>
              <a:cs typeface="Calibri"/>
              <a:sym typeface="Calibri"/>
            </a:endParaRPr>
          </a:p>
        </p:txBody>
      </p:sp>
      <p:sp>
        <p:nvSpPr>
          <p:cNvPr id="352" name="Google Shape;352;p24"/>
          <p:cNvSpPr/>
          <p:nvPr/>
        </p:nvSpPr>
        <p:spPr>
          <a:xfrm>
            <a:off x="457200" y="1600200"/>
            <a:ext cx="11247120" cy="1051560"/>
          </a:xfrm>
          <a:prstGeom prst="roundRect">
            <a:avLst>
              <a:gd fmla="val 909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24"/>
          <p:cNvSpPr/>
          <p:nvPr/>
        </p:nvSpPr>
        <p:spPr>
          <a:xfrm>
            <a:off x="457200" y="1600200"/>
            <a:ext cx="137160" cy="105156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24"/>
          <p:cNvSpPr/>
          <p:nvPr/>
        </p:nvSpPr>
        <p:spPr>
          <a:xfrm>
            <a:off x="777240" y="164592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WHO BENEFITS</a:t>
            </a:r>
            <a:endParaRPr b="1" i="0" sz="1400" u="none" cap="none" strike="noStrike">
              <a:solidFill>
                <a:schemeClr val="dk1"/>
              </a:solidFill>
              <a:latin typeface="Calibri"/>
              <a:ea typeface="Calibri"/>
              <a:cs typeface="Calibri"/>
              <a:sym typeface="Calibri"/>
            </a:endParaRPr>
          </a:p>
        </p:txBody>
      </p:sp>
      <p:sp>
        <p:nvSpPr>
          <p:cNvPr id="355" name="Google Shape;355;p24"/>
          <p:cNvSpPr/>
          <p:nvPr/>
        </p:nvSpPr>
        <p:spPr>
          <a:xfrm>
            <a:off x="777240" y="1932955"/>
            <a:ext cx="10881300" cy="5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The girls benefit from hands-on exposure to emerging technologies, including AI, coding, digital design, and fabrication, while exploring potential STEAM and career pathways. The program is designed to increase student engagement, build technology skills, and help students see themselves in future STEAM careers. </a:t>
            </a:r>
            <a:endParaRPr b="0" i="0" sz="1400" u="none" cap="none" strike="noStrike">
              <a:solidFill>
                <a:schemeClr val="dk1"/>
              </a:solidFill>
              <a:latin typeface="Calibri"/>
              <a:ea typeface="Calibri"/>
              <a:cs typeface="Calibri"/>
              <a:sym typeface="Calibri"/>
            </a:endParaRPr>
          </a:p>
        </p:txBody>
      </p:sp>
      <p:sp>
        <p:nvSpPr>
          <p:cNvPr id="356" name="Google Shape;356;p24"/>
          <p:cNvSpPr/>
          <p:nvPr/>
        </p:nvSpPr>
        <p:spPr>
          <a:xfrm>
            <a:off x="457200" y="2788920"/>
            <a:ext cx="112471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OUTCOMES &amp; IMPACT</a:t>
            </a:r>
            <a:endParaRPr b="1" i="0" sz="1400" u="none" cap="none" strike="noStrike">
              <a:solidFill>
                <a:schemeClr val="dk1"/>
              </a:solidFill>
              <a:latin typeface="Calibri"/>
              <a:ea typeface="Calibri"/>
              <a:cs typeface="Calibri"/>
              <a:sym typeface="Calibri"/>
            </a:endParaRPr>
          </a:p>
        </p:txBody>
      </p:sp>
      <p:sp>
        <p:nvSpPr>
          <p:cNvPr id="357" name="Google Shape;357;p24"/>
          <p:cNvSpPr/>
          <p:nvPr/>
        </p:nvSpPr>
        <p:spPr>
          <a:xfrm>
            <a:off x="4572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p24"/>
          <p:cNvSpPr/>
          <p:nvPr/>
        </p:nvSpPr>
        <p:spPr>
          <a:xfrm>
            <a:off x="5943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40</a:t>
            </a:r>
            <a:endParaRPr b="1" i="0" sz="3200" u="none" cap="none" strike="noStrike">
              <a:solidFill>
                <a:schemeClr val="dk1"/>
              </a:solidFill>
              <a:latin typeface="Calibri"/>
              <a:ea typeface="Calibri"/>
              <a:cs typeface="Calibri"/>
              <a:sym typeface="Calibri"/>
            </a:endParaRPr>
          </a:p>
        </p:txBody>
      </p:sp>
      <p:sp>
        <p:nvSpPr>
          <p:cNvPr id="359" name="Google Shape;359;p24"/>
          <p:cNvSpPr/>
          <p:nvPr/>
        </p:nvSpPr>
        <p:spPr>
          <a:xfrm>
            <a:off x="594360" y="3901440"/>
            <a:ext cx="3332480" cy="5330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currently enrolled</a:t>
            </a:r>
            <a:endParaRPr b="0" i="0" sz="1400" u="none" cap="none" strike="noStrike">
              <a:solidFill>
                <a:schemeClr val="dk1"/>
              </a:solidFill>
              <a:latin typeface="Calibri"/>
              <a:ea typeface="Calibri"/>
              <a:cs typeface="Calibri"/>
              <a:sym typeface="Calibri"/>
            </a:endParaRPr>
          </a:p>
        </p:txBody>
      </p:sp>
      <p:sp>
        <p:nvSpPr>
          <p:cNvPr id="360" name="Google Shape;360;p24"/>
          <p:cNvSpPr/>
          <p:nvPr/>
        </p:nvSpPr>
        <p:spPr>
          <a:xfrm>
            <a:off x="42926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24"/>
          <p:cNvSpPr/>
          <p:nvPr/>
        </p:nvSpPr>
        <p:spPr>
          <a:xfrm>
            <a:off x="44297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lang="en-US" sz="2700">
                <a:solidFill>
                  <a:srgbClr val="FFB900"/>
                </a:solidFill>
                <a:latin typeface="Quattrocento Sans"/>
                <a:ea typeface="Quattrocento Sans"/>
                <a:cs typeface="Quattrocento Sans"/>
                <a:sym typeface="Quattrocento Sans"/>
              </a:rPr>
              <a:t>Academies of Racine</a:t>
            </a:r>
            <a:endParaRPr b="1" i="0" sz="2700" u="none" cap="none" strike="noStrike">
              <a:solidFill>
                <a:schemeClr val="dk1"/>
              </a:solidFill>
              <a:latin typeface="Calibri"/>
              <a:ea typeface="Calibri"/>
              <a:cs typeface="Calibri"/>
              <a:sym typeface="Calibri"/>
            </a:endParaRPr>
          </a:p>
        </p:txBody>
      </p:sp>
      <p:sp>
        <p:nvSpPr>
          <p:cNvPr id="362" name="Google Shape;362;p24"/>
          <p:cNvSpPr/>
          <p:nvPr/>
        </p:nvSpPr>
        <p:spPr>
          <a:xfrm>
            <a:off x="4429760" y="3800035"/>
            <a:ext cx="3332400" cy="53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Preparing students for choosing a pathway in our academy high schools</a:t>
            </a:r>
            <a:endParaRPr b="0" i="0" sz="1400" u="none" cap="none" strike="noStrike">
              <a:solidFill>
                <a:schemeClr val="dk1"/>
              </a:solidFill>
              <a:latin typeface="Calibri"/>
              <a:ea typeface="Calibri"/>
              <a:cs typeface="Calibri"/>
              <a:sym typeface="Calibri"/>
            </a:endParaRPr>
          </a:p>
        </p:txBody>
      </p:sp>
      <p:sp>
        <p:nvSpPr>
          <p:cNvPr id="363" name="Google Shape;363;p24"/>
          <p:cNvSpPr/>
          <p:nvPr/>
        </p:nvSpPr>
        <p:spPr>
          <a:xfrm>
            <a:off x="81280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p24"/>
          <p:cNvSpPr/>
          <p:nvPr/>
        </p:nvSpPr>
        <p:spPr>
          <a:xfrm>
            <a:off x="82651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lang="en-US" sz="3200">
                <a:solidFill>
                  <a:srgbClr val="FFB900"/>
                </a:solidFill>
                <a:latin typeface="Quattrocento Sans"/>
                <a:ea typeface="Quattrocento Sans"/>
                <a:cs typeface="Quattrocento Sans"/>
                <a:sym typeface="Quattrocento Sans"/>
              </a:rPr>
              <a:t>SC-J Scholarship</a:t>
            </a:r>
            <a:endParaRPr b="1" i="0" sz="3200" u="none" cap="none" strike="noStrike">
              <a:solidFill>
                <a:schemeClr val="dk1"/>
              </a:solidFill>
              <a:latin typeface="Calibri"/>
              <a:ea typeface="Calibri"/>
              <a:cs typeface="Calibri"/>
              <a:sym typeface="Calibri"/>
            </a:endParaRPr>
          </a:p>
        </p:txBody>
      </p:sp>
      <p:sp>
        <p:nvSpPr>
          <p:cNvPr id="365" name="Google Shape;365;p24"/>
          <p:cNvSpPr/>
          <p:nvPr/>
        </p:nvSpPr>
        <p:spPr>
          <a:xfrm>
            <a:off x="8113051" y="3753225"/>
            <a:ext cx="3606900" cy="53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sz="1100">
                <a:solidFill>
                  <a:srgbClr val="FFFFFF"/>
                </a:solidFill>
                <a:latin typeface="Quattrocento Sans"/>
                <a:ea typeface="Quattrocento Sans"/>
                <a:cs typeface="Quattrocento Sans"/>
                <a:sym typeface="Quattrocento Sans"/>
              </a:rPr>
              <a:t>The Gateway/SC-J STEM Scholarship completes the journey, giving girls the opportunity to earn a degree at no cost</a:t>
            </a:r>
            <a:endParaRPr b="0" i="0" sz="1100" u="none" cap="none" strike="noStrike">
              <a:solidFill>
                <a:schemeClr val="dk1"/>
              </a:solidFill>
              <a:latin typeface="Calibri"/>
              <a:ea typeface="Calibri"/>
              <a:cs typeface="Calibri"/>
              <a:sym typeface="Calibri"/>
            </a:endParaRPr>
          </a:p>
        </p:txBody>
      </p:sp>
      <p:sp>
        <p:nvSpPr>
          <p:cNvPr id="366" name="Google Shape;366;p24"/>
          <p:cNvSpPr/>
          <p:nvPr/>
        </p:nvSpPr>
        <p:spPr>
          <a:xfrm>
            <a:off x="457200" y="4434840"/>
            <a:ext cx="562356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p:nvPr/>
        </p:nvSpPr>
        <p:spPr>
          <a:xfrm>
            <a:off x="457200" y="4434840"/>
            <a:ext cx="5623560" cy="35052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24"/>
          <p:cNvSpPr/>
          <p:nvPr/>
        </p:nvSpPr>
        <p:spPr>
          <a:xfrm>
            <a:off x="640080" y="443484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RESPONSIBLE AI CONSIDERATIONS</a:t>
            </a:r>
            <a:endParaRPr b="1" i="0" sz="1400" u="none" cap="none" strike="noStrike">
              <a:solidFill>
                <a:schemeClr val="dk1"/>
              </a:solidFill>
              <a:latin typeface="Calibri"/>
              <a:ea typeface="Calibri"/>
              <a:cs typeface="Calibri"/>
              <a:sym typeface="Calibri"/>
            </a:endParaRPr>
          </a:p>
        </p:txBody>
      </p:sp>
      <p:sp>
        <p:nvSpPr>
          <p:cNvPr id="369" name="Google Shape;369;p24"/>
          <p:cNvSpPr/>
          <p:nvPr/>
        </p:nvSpPr>
        <p:spPr>
          <a:xfrm>
            <a:off x="640080" y="4876800"/>
            <a:ext cx="5303520" cy="99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rgbClr val="23201F"/>
                </a:solidFill>
                <a:latin typeface="Quattrocento Sans"/>
                <a:ea typeface="Quattrocento Sans"/>
                <a:cs typeface="Quattrocento Sans"/>
                <a:sym typeface="Quattrocento Sans"/>
              </a:rPr>
              <a:t>Students learn to use AI responsibly by protecting privacy, thinking critically, checking accuracy, recognizing bias, being transparent about AI use, respecting original work, and practicing good digital citizenship.</a:t>
            </a:r>
            <a:endParaRPr>
              <a:solidFill>
                <a:srgbClr val="23201F"/>
              </a:solidFill>
              <a:latin typeface="Quattrocento Sans"/>
              <a:ea typeface="Quattrocento Sans"/>
              <a:cs typeface="Quattrocento Sans"/>
              <a:sym typeface="Quattrocento Sans"/>
            </a:endParaRPr>
          </a:p>
          <a:p>
            <a:pPr indent="0" lvl="0" marL="0" marR="0" rtl="0" algn="l">
              <a:lnSpc>
                <a:spcPct val="100000"/>
              </a:lnSpc>
              <a:spcBef>
                <a:spcPts val="1200"/>
              </a:spcBef>
              <a:spcAft>
                <a:spcPts val="0"/>
              </a:spcAft>
              <a:buClr>
                <a:srgbClr val="23201F"/>
              </a:buClr>
              <a:buSzPts val="1150"/>
              <a:buFont typeface="Quattrocento Sans"/>
              <a:buNone/>
            </a:pPr>
            <a:r>
              <a:t/>
            </a:r>
            <a:endParaRPr>
              <a:solidFill>
                <a:srgbClr val="23201F"/>
              </a:solidFill>
              <a:latin typeface="Quattrocento Sans"/>
              <a:ea typeface="Quattrocento Sans"/>
              <a:cs typeface="Quattrocento Sans"/>
              <a:sym typeface="Quattrocento Sans"/>
            </a:endParaRPr>
          </a:p>
        </p:txBody>
      </p:sp>
      <p:sp>
        <p:nvSpPr>
          <p:cNvPr id="370" name="Google Shape;370;p24"/>
          <p:cNvSpPr/>
          <p:nvPr/>
        </p:nvSpPr>
        <p:spPr>
          <a:xfrm>
            <a:off x="6263640" y="4434840"/>
            <a:ext cx="544068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24"/>
          <p:cNvSpPr/>
          <p:nvPr/>
        </p:nvSpPr>
        <p:spPr>
          <a:xfrm>
            <a:off x="6263640" y="443484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p24"/>
          <p:cNvSpPr/>
          <p:nvPr/>
        </p:nvSpPr>
        <p:spPr>
          <a:xfrm>
            <a:off x="6446520" y="443484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WHAT'S NEXT</a:t>
            </a:r>
            <a:endParaRPr b="1" i="0" sz="1400" u="none" cap="none" strike="noStrike">
              <a:solidFill>
                <a:schemeClr val="dk1"/>
              </a:solidFill>
              <a:latin typeface="Calibri"/>
              <a:ea typeface="Calibri"/>
              <a:cs typeface="Calibri"/>
              <a:sym typeface="Calibri"/>
            </a:endParaRPr>
          </a:p>
        </p:txBody>
      </p:sp>
      <p:sp>
        <p:nvSpPr>
          <p:cNvPr id="373" name="Google Shape;373;p24"/>
          <p:cNvSpPr/>
          <p:nvPr/>
        </p:nvSpPr>
        <p:spPr>
          <a:xfrm>
            <a:off x="6446520" y="487680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50"/>
              <a:buFont typeface="Quattrocento Sans"/>
              <a:buNone/>
            </a:pPr>
            <a:r>
              <a:rPr lang="en-US">
                <a:solidFill>
                  <a:srgbClr val="23201F"/>
                </a:solidFill>
                <a:latin typeface="Quattrocento Sans"/>
                <a:ea typeface="Quattrocento Sans"/>
                <a:cs typeface="Quattrocento Sans"/>
                <a:sym typeface="Quattrocento Sans"/>
              </a:rPr>
              <a:t>Program reimagined with ~40 girls enrolled, creating a three-year cohort experience from 6th through 8th grade. </a:t>
            </a:r>
            <a:endParaRPr b="0" i="0" sz="1400" u="none" cap="none" strike="noStrike">
              <a:solidFill>
                <a:schemeClr val="dk1"/>
              </a:solidFill>
              <a:latin typeface="Calibri"/>
              <a:ea typeface="Calibri"/>
              <a:cs typeface="Calibri"/>
              <a:sym typeface="Calibri"/>
            </a:endParaRPr>
          </a:p>
        </p:txBody>
      </p:sp>
      <p:sp>
        <p:nvSpPr>
          <p:cNvPr id="374" name="Google Shape;374;p24"/>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“JA STEAM Girls” • PDF p. 2</a:t>
            </a:r>
            <a:endParaRPr b="0" i="0" sz="1400" u="none" cap="none" strike="noStrike">
              <a:solidFill>
                <a:schemeClr val="dk1"/>
              </a:solidFill>
              <a:latin typeface="Calibri"/>
              <a:ea typeface="Calibri"/>
              <a:cs typeface="Calibri"/>
              <a:sym typeface="Calibri"/>
            </a:endParaRPr>
          </a:p>
        </p:txBody>
      </p:sp>
      <p:sp>
        <p:nvSpPr>
          <p:cNvPr id="375" name="Google Shape;375;p24"/>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10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80" name="Shape 380"/>
        <p:cNvGrpSpPr/>
        <p:nvPr/>
      </p:nvGrpSpPr>
      <p:grpSpPr>
        <a:xfrm>
          <a:off x="0" y="0"/>
          <a:ext cx="0" cy="0"/>
          <a:chOff x="0" y="0"/>
          <a:chExt cx="0" cy="0"/>
        </a:xfrm>
      </p:grpSpPr>
      <p:sp>
        <p:nvSpPr>
          <p:cNvPr id="381" name="Google Shape;381;p25"/>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25"/>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SPARK 05 • INNOVATION ENABLER • PAGE 1 OF 2</a:t>
            </a:r>
            <a:endParaRPr b="1" i="0" sz="1400" u="none" cap="none" strike="noStrike">
              <a:solidFill>
                <a:schemeClr val="dk1"/>
              </a:solidFill>
              <a:latin typeface="Calibri"/>
              <a:ea typeface="Calibri"/>
              <a:cs typeface="Calibri"/>
              <a:sym typeface="Calibri"/>
            </a:endParaRPr>
          </a:p>
        </p:txBody>
      </p:sp>
      <p:sp>
        <p:nvSpPr>
          <p:cNvPr id="383" name="Google Shape;383;p25"/>
          <p:cNvSpPr/>
          <p:nvPr/>
        </p:nvSpPr>
        <p:spPr>
          <a:xfrm>
            <a:off x="457200" y="853440"/>
            <a:ext cx="7345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Racine Unified School Foundation</a:t>
            </a:r>
            <a:endParaRPr b="1" i="0" sz="2400" u="none" cap="none" strike="noStrike">
              <a:solidFill>
                <a:schemeClr val="dk1"/>
              </a:solidFill>
              <a:latin typeface="Calibri"/>
              <a:ea typeface="Calibri"/>
              <a:cs typeface="Calibri"/>
              <a:sym typeface="Calibri"/>
            </a:endParaRPr>
          </a:p>
        </p:txBody>
      </p:sp>
      <p:sp>
        <p:nvSpPr>
          <p:cNvPr id="384" name="Google Shape;384;p25"/>
          <p:cNvSpPr/>
          <p:nvPr/>
        </p:nvSpPr>
        <p:spPr>
          <a:xfrm>
            <a:off x="8077200" y="731520"/>
            <a:ext cx="3657600" cy="563880"/>
          </a:xfrm>
          <a:prstGeom prst="roundRect">
            <a:avLst>
              <a:gd fmla="val 49091" name="adj"/>
            </a:avLst>
          </a:prstGeom>
          <a:solidFill>
            <a:srgbClr val="FFB900"/>
          </a:solidFill>
          <a:ln cap="flat" cmpd="sng" w="1905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25"/>
          <p:cNvSpPr/>
          <p:nvPr/>
        </p:nvSpPr>
        <p:spPr>
          <a:xfrm>
            <a:off x="8077200" y="838200"/>
            <a:ext cx="3657600" cy="350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Institutional Innovation</a:t>
            </a:r>
            <a:endParaRPr b="1" i="0" sz="1400" u="none" cap="none" strike="noStrike">
              <a:solidFill>
                <a:schemeClr val="dk1"/>
              </a:solidFill>
              <a:latin typeface="Calibri"/>
              <a:ea typeface="Calibri"/>
              <a:cs typeface="Calibri"/>
              <a:sym typeface="Calibri"/>
            </a:endParaRPr>
          </a:p>
        </p:txBody>
      </p:sp>
      <p:sp>
        <p:nvSpPr>
          <p:cNvPr id="386" name="Google Shape;386;p25"/>
          <p:cNvSpPr/>
          <p:nvPr/>
        </p:nvSpPr>
        <p:spPr>
          <a:xfrm>
            <a:off x="45720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25"/>
          <p:cNvSpPr/>
          <p:nvPr/>
        </p:nvSpPr>
        <p:spPr>
          <a:xfrm>
            <a:off x="62179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500" u="none" cap="none" strike="noStrike">
                <a:solidFill>
                  <a:srgbClr val="7B4F9E"/>
                </a:solidFill>
                <a:latin typeface="Quattrocento Sans"/>
                <a:ea typeface="Quattrocento Sans"/>
                <a:cs typeface="Quattrocento Sans"/>
                <a:sym typeface="Quattrocento Sans"/>
              </a:rPr>
              <a:t>ORGANIZATION</a:t>
            </a:r>
            <a:endParaRPr b="1" i="0" sz="1500" u="none" cap="none" strike="noStrike">
              <a:solidFill>
                <a:schemeClr val="dk1"/>
              </a:solidFill>
              <a:latin typeface="Calibri"/>
              <a:ea typeface="Calibri"/>
              <a:cs typeface="Calibri"/>
              <a:sym typeface="Calibri"/>
            </a:endParaRPr>
          </a:p>
        </p:txBody>
      </p:sp>
      <p:sp>
        <p:nvSpPr>
          <p:cNvPr id="388" name="Google Shape;388;p25"/>
          <p:cNvSpPr/>
          <p:nvPr/>
        </p:nvSpPr>
        <p:spPr>
          <a:xfrm>
            <a:off x="62179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RUSD</a:t>
            </a:r>
            <a:br>
              <a:rPr b="0" i="0" lang="en-US" sz="1400" u="none" cap="none" strike="noStrike">
                <a:solidFill>
                  <a:srgbClr val="23201F"/>
                </a:solidFill>
                <a:latin typeface="Quattrocento Sans"/>
                <a:ea typeface="Quattrocento Sans"/>
                <a:cs typeface="Quattrocento Sans"/>
                <a:sym typeface="Quattrocento Sans"/>
              </a:rPr>
            </a:br>
            <a:r>
              <a:rPr b="0" i="0" lang="en-US" sz="1400" u="none" cap="none" strike="noStrike">
                <a:solidFill>
                  <a:srgbClr val="23201F"/>
                </a:solidFill>
                <a:latin typeface="Quattrocento Sans"/>
                <a:ea typeface="Quattrocento Sans"/>
                <a:cs typeface="Quattrocento Sans"/>
                <a:sym typeface="Quattrocento Sans"/>
              </a:rPr>
              <a:t>RUSF • 501(c)(3)</a:t>
            </a:r>
            <a:endParaRPr b="0" i="0" sz="1400" u="none" cap="none" strike="noStrike">
              <a:solidFill>
                <a:schemeClr val="dk1"/>
              </a:solidFill>
              <a:latin typeface="Calibri"/>
              <a:ea typeface="Calibri"/>
              <a:cs typeface="Calibri"/>
              <a:sym typeface="Calibri"/>
            </a:endParaRPr>
          </a:p>
        </p:txBody>
      </p:sp>
      <p:sp>
        <p:nvSpPr>
          <p:cNvPr id="389" name="Google Shape;389;p25"/>
          <p:cNvSpPr/>
          <p:nvPr/>
        </p:nvSpPr>
        <p:spPr>
          <a:xfrm>
            <a:off x="333756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0" name="Google Shape;390;p25"/>
          <p:cNvSpPr/>
          <p:nvPr/>
        </p:nvSpPr>
        <p:spPr>
          <a:xfrm>
            <a:off x="350215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CONTACT SOURCE</a:t>
            </a:r>
            <a:endParaRPr b="1" i="0" sz="1400" u="none" cap="none" strike="noStrike">
              <a:solidFill>
                <a:schemeClr val="dk1"/>
              </a:solidFill>
              <a:latin typeface="Calibri"/>
              <a:ea typeface="Calibri"/>
              <a:cs typeface="Calibri"/>
              <a:sym typeface="Calibri"/>
            </a:endParaRPr>
          </a:p>
        </p:txBody>
      </p:sp>
      <p:sp>
        <p:nvSpPr>
          <p:cNvPr id="391" name="Google Shape;391;p25"/>
          <p:cNvSpPr/>
          <p:nvPr/>
        </p:nvSpPr>
        <p:spPr>
          <a:xfrm>
            <a:off x="350215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b="0" i="0" lang="en-US" sz="1400" u="none" cap="none" strike="noStrike">
                <a:solidFill>
                  <a:srgbClr val="23201F"/>
                </a:solidFill>
                <a:latin typeface="Quattrocento Sans"/>
                <a:ea typeface="Quattrocento Sans"/>
                <a:cs typeface="Quattrocento Sans"/>
                <a:sym typeface="Quattrocento Sans"/>
              </a:rPr>
              <a:t>David Venne</a:t>
            </a:r>
            <a:endParaRPr b="0" i="0" sz="1400" u="none" cap="none" strike="noStrike">
              <a:solidFill>
                <a:srgbClr val="23201F"/>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rPr>
              <a:t>david.venne@rusd.org</a:t>
            </a:r>
            <a:br>
              <a:rPr b="0" i="0" lang="en-US" sz="1400" u="none" cap="none" strike="noStrike">
                <a:solidFill>
                  <a:srgbClr val="23201F"/>
                </a:solidFill>
                <a:latin typeface="Quattrocento Sans"/>
                <a:ea typeface="Quattrocento Sans"/>
                <a:cs typeface="Quattrocento Sans"/>
                <a:sym typeface="Quattrocento Sans"/>
              </a:rPr>
            </a:br>
            <a:endParaRPr b="0" i="0" sz="1400" u="none" cap="none" strike="noStrike">
              <a:solidFill>
                <a:schemeClr val="dk1"/>
              </a:solidFill>
              <a:latin typeface="Calibri"/>
              <a:ea typeface="Calibri"/>
              <a:cs typeface="Calibri"/>
              <a:sym typeface="Calibri"/>
            </a:endParaRPr>
          </a:p>
        </p:txBody>
      </p:sp>
      <p:sp>
        <p:nvSpPr>
          <p:cNvPr id="392" name="Google Shape;392;p25"/>
          <p:cNvSpPr/>
          <p:nvPr/>
        </p:nvSpPr>
        <p:spPr>
          <a:xfrm>
            <a:off x="621792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25"/>
          <p:cNvSpPr/>
          <p:nvPr/>
        </p:nvSpPr>
        <p:spPr>
          <a:xfrm>
            <a:off x="638251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DATE IMPLEMENTED</a:t>
            </a:r>
            <a:endParaRPr b="1" i="0" sz="1400" u="none" cap="none" strike="noStrike">
              <a:solidFill>
                <a:schemeClr val="dk1"/>
              </a:solidFill>
              <a:latin typeface="Calibri"/>
              <a:ea typeface="Calibri"/>
              <a:cs typeface="Calibri"/>
              <a:sym typeface="Calibri"/>
            </a:endParaRPr>
          </a:p>
        </p:txBody>
      </p:sp>
      <p:sp>
        <p:nvSpPr>
          <p:cNvPr id="394" name="Google Shape;394;p25"/>
          <p:cNvSpPr/>
          <p:nvPr/>
        </p:nvSpPr>
        <p:spPr>
          <a:xfrm>
            <a:off x="638251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latin typeface="Quattrocento Sans"/>
                <a:ea typeface="Quattrocento Sans"/>
                <a:cs typeface="Quattrocento Sans"/>
                <a:sym typeface="Quattrocento Sans"/>
              </a:rPr>
              <a:t>August 2026</a:t>
            </a:r>
            <a:endParaRPr b="0" i="0" sz="1400" u="none" cap="none" strike="noStrike">
              <a:solidFill>
                <a:schemeClr val="dk1"/>
              </a:solidFill>
              <a:latin typeface="Calibri"/>
              <a:ea typeface="Calibri"/>
              <a:cs typeface="Calibri"/>
              <a:sym typeface="Calibri"/>
            </a:endParaRPr>
          </a:p>
        </p:txBody>
      </p:sp>
      <p:sp>
        <p:nvSpPr>
          <p:cNvPr id="395" name="Google Shape;395;p25"/>
          <p:cNvSpPr/>
          <p:nvPr/>
        </p:nvSpPr>
        <p:spPr>
          <a:xfrm>
            <a:off x="9098280" y="1600200"/>
            <a:ext cx="2606040" cy="1097280"/>
          </a:xfrm>
          <a:prstGeom prst="roundRect">
            <a:avLst>
              <a:gd fmla="val 842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25"/>
          <p:cNvSpPr/>
          <p:nvPr/>
        </p:nvSpPr>
        <p:spPr>
          <a:xfrm>
            <a:off x="9262872" y="1645920"/>
            <a:ext cx="23317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4F9E"/>
              </a:buClr>
              <a:buSzPts val="950"/>
              <a:buFont typeface="Quattrocento Sans"/>
              <a:buNone/>
            </a:pPr>
            <a:r>
              <a:rPr b="1" i="0" lang="en-US" sz="1400" u="none" cap="none" strike="noStrike">
                <a:solidFill>
                  <a:srgbClr val="7B4F9E"/>
                </a:solidFill>
                <a:latin typeface="Quattrocento Sans"/>
                <a:ea typeface="Quattrocento Sans"/>
                <a:cs typeface="Quattrocento Sans"/>
                <a:sym typeface="Quattrocento Sans"/>
              </a:rPr>
              <a:t>STATUS</a:t>
            </a:r>
            <a:endParaRPr b="1" i="0" sz="1400" u="none" cap="none" strike="noStrike">
              <a:solidFill>
                <a:schemeClr val="dk1"/>
              </a:solidFill>
              <a:latin typeface="Calibri"/>
              <a:ea typeface="Calibri"/>
              <a:cs typeface="Calibri"/>
              <a:sym typeface="Calibri"/>
            </a:endParaRPr>
          </a:p>
        </p:txBody>
      </p:sp>
      <p:sp>
        <p:nvSpPr>
          <p:cNvPr id="397" name="Google Shape;397;p25"/>
          <p:cNvSpPr/>
          <p:nvPr/>
        </p:nvSpPr>
        <p:spPr>
          <a:xfrm>
            <a:off x="9262872" y="2042160"/>
            <a:ext cx="233172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300"/>
              <a:buFont typeface="Quattrocento Sans"/>
              <a:buNone/>
            </a:pPr>
            <a:r>
              <a:rPr lang="en-US">
                <a:solidFill>
                  <a:srgbClr val="23201F"/>
                </a:solidFill>
                <a:latin typeface="Quattrocento Sans"/>
                <a:ea typeface="Quattrocento Sans"/>
                <a:cs typeface="Quattrocento Sans"/>
                <a:sym typeface="Quattrocento Sans"/>
              </a:rPr>
              <a:t>New foundation</a:t>
            </a:r>
            <a:endParaRPr b="0" i="0" sz="1400" u="none" cap="none" strike="noStrike">
              <a:solidFill>
                <a:schemeClr val="dk1"/>
              </a:solidFill>
              <a:latin typeface="Calibri"/>
              <a:ea typeface="Calibri"/>
              <a:cs typeface="Calibri"/>
              <a:sym typeface="Calibri"/>
            </a:endParaRPr>
          </a:p>
        </p:txBody>
      </p:sp>
      <p:sp>
        <p:nvSpPr>
          <p:cNvPr id="398" name="Google Shape;398;p25"/>
          <p:cNvSpPr/>
          <p:nvPr/>
        </p:nvSpPr>
        <p:spPr>
          <a:xfrm>
            <a:off x="457200" y="2971800"/>
            <a:ext cx="562356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25"/>
          <p:cNvSpPr/>
          <p:nvPr/>
        </p:nvSpPr>
        <p:spPr>
          <a:xfrm>
            <a:off x="457200" y="2971800"/>
            <a:ext cx="5623560" cy="35052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25"/>
          <p:cNvSpPr/>
          <p:nvPr/>
        </p:nvSpPr>
        <p:spPr>
          <a:xfrm>
            <a:off x="640080" y="297180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2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THE CHALLENGE</a:t>
            </a:r>
            <a:endParaRPr b="1" i="0" sz="1400" u="none" cap="none" strike="noStrike">
              <a:solidFill>
                <a:schemeClr val="dk1"/>
              </a:solidFill>
              <a:latin typeface="Calibri"/>
              <a:ea typeface="Calibri"/>
              <a:cs typeface="Calibri"/>
              <a:sym typeface="Calibri"/>
            </a:endParaRPr>
          </a:p>
        </p:txBody>
      </p:sp>
      <p:sp>
        <p:nvSpPr>
          <p:cNvPr id="401" name="Google Shape;401;p25"/>
          <p:cNvSpPr/>
          <p:nvPr/>
        </p:nvSpPr>
        <p:spPr>
          <a:xfrm>
            <a:off x="640080" y="3413760"/>
            <a:ext cx="5303520" cy="99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Questrial"/>
                <a:ea typeface="Questrial"/>
                <a:cs typeface="Questrial"/>
                <a:sym typeface="Questrial"/>
              </a:rPr>
              <a:t>Expand innovative programs and student experiences beyond what the traditional school budget can provide. Microsoft engaged as an advisor on the importance of a foundation.</a:t>
            </a:r>
            <a:endParaRPr>
              <a:solidFill>
                <a:schemeClr val="dk1"/>
              </a:solidFill>
              <a:latin typeface="Questrial"/>
              <a:ea typeface="Questrial"/>
              <a:cs typeface="Questrial"/>
              <a:sym typeface="Questrial"/>
            </a:endParaRPr>
          </a:p>
          <a:p>
            <a:pPr indent="0" lvl="0" marL="0" marR="0" rtl="0" algn="l">
              <a:lnSpc>
                <a:spcPct val="100000"/>
              </a:lnSpc>
              <a:spcBef>
                <a:spcPts val="1200"/>
              </a:spcBef>
              <a:spcAft>
                <a:spcPts val="0"/>
              </a:spcAft>
              <a:buClr>
                <a:srgbClr val="23201F"/>
              </a:buClr>
              <a:buSzPts val="1250"/>
              <a:buFont typeface="Quattrocento Sans"/>
              <a:buNone/>
            </a:pPr>
            <a:r>
              <a:t/>
            </a:r>
            <a:endParaRPr>
              <a:solidFill>
                <a:srgbClr val="23201F"/>
              </a:solidFill>
              <a:latin typeface="Quattrocento Sans"/>
              <a:ea typeface="Quattrocento Sans"/>
              <a:cs typeface="Quattrocento Sans"/>
              <a:sym typeface="Quattrocento Sans"/>
            </a:endParaRPr>
          </a:p>
        </p:txBody>
      </p:sp>
      <p:sp>
        <p:nvSpPr>
          <p:cNvPr id="402" name="Google Shape;402;p25"/>
          <p:cNvSpPr/>
          <p:nvPr/>
        </p:nvSpPr>
        <p:spPr>
          <a:xfrm>
            <a:off x="6263640" y="2971800"/>
            <a:ext cx="5440680" cy="1524000"/>
          </a:xfrm>
          <a:prstGeom prst="roundRect">
            <a:avLst>
              <a:gd fmla="val 5128"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25"/>
          <p:cNvSpPr/>
          <p:nvPr/>
        </p:nvSpPr>
        <p:spPr>
          <a:xfrm>
            <a:off x="6263640" y="297180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25"/>
          <p:cNvSpPr/>
          <p:nvPr/>
        </p:nvSpPr>
        <p:spPr>
          <a:xfrm>
            <a:off x="6446520" y="297180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THE SOLUTION</a:t>
            </a:r>
            <a:endParaRPr b="1" i="0" sz="1400" u="none" cap="none" strike="noStrike">
              <a:solidFill>
                <a:schemeClr val="dk1"/>
              </a:solidFill>
              <a:latin typeface="Calibri"/>
              <a:ea typeface="Calibri"/>
              <a:cs typeface="Calibri"/>
              <a:sym typeface="Calibri"/>
            </a:endParaRPr>
          </a:p>
        </p:txBody>
      </p:sp>
      <p:sp>
        <p:nvSpPr>
          <p:cNvPr id="405" name="Google Shape;405;p25"/>
          <p:cNvSpPr/>
          <p:nvPr/>
        </p:nvSpPr>
        <p:spPr>
          <a:xfrm>
            <a:off x="6446520" y="3413760"/>
            <a:ext cx="5120640" cy="99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A new 501(c)(3) foundation connects community and business partners with opportunities to directly support RUSD students, schools, and innovative programs. </a:t>
            </a:r>
            <a:endParaRPr b="0" i="0" sz="1400" u="none" cap="none" strike="noStrike">
              <a:solidFill>
                <a:schemeClr val="dk1"/>
              </a:solidFill>
              <a:latin typeface="Calibri"/>
              <a:ea typeface="Calibri"/>
              <a:cs typeface="Calibri"/>
              <a:sym typeface="Calibri"/>
            </a:endParaRPr>
          </a:p>
        </p:txBody>
      </p:sp>
      <p:sp>
        <p:nvSpPr>
          <p:cNvPr id="406" name="Google Shape;406;p25"/>
          <p:cNvSpPr/>
          <p:nvPr/>
        </p:nvSpPr>
        <p:spPr>
          <a:xfrm>
            <a:off x="457200" y="4770120"/>
            <a:ext cx="11247120" cy="1143000"/>
          </a:xfrm>
          <a:prstGeom prst="roundRect">
            <a:avLst>
              <a:gd fmla="val 5714"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25"/>
          <p:cNvSpPr/>
          <p:nvPr/>
        </p:nvSpPr>
        <p:spPr>
          <a:xfrm>
            <a:off x="457200" y="4770120"/>
            <a:ext cx="137160" cy="114300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8" name="Google Shape;408;p25"/>
          <p:cNvSpPr/>
          <p:nvPr/>
        </p:nvSpPr>
        <p:spPr>
          <a:xfrm>
            <a:off x="777240" y="481584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lang="en-US">
                <a:solidFill>
                  <a:srgbClr val="225B62"/>
                </a:solidFill>
                <a:latin typeface="Quattrocento Sans"/>
                <a:ea typeface="Quattrocento Sans"/>
                <a:cs typeface="Quattrocento Sans"/>
                <a:sym typeface="Quattrocento Sans"/>
              </a:rPr>
              <a:t>GOAL AND VISION OF FOUNDATION</a:t>
            </a:r>
            <a:endParaRPr b="1" i="0" sz="1400" u="none" cap="none" strike="noStrike">
              <a:solidFill>
                <a:schemeClr val="dk1"/>
              </a:solidFill>
              <a:latin typeface="Calibri"/>
              <a:ea typeface="Calibri"/>
              <a:cs typeface="Calibri"/>
              <a:sym typeface="Calibri"/>
            </a:endParaRPr>
          </a:p>
        </p:txBody>
      </p:sp>
      <p:sp>
        <p:nvSpPr>
          <p:cNvPr id="409" name="Google Shape;409;p25"/>
          <p:cNvSpPr/>
          <p:nvPr/>
        </p:nvSpPr>
        <p:spPr>
          <a:xfrm>
            <a:off x="777240" y="521208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RUSF connects the strength of our community with the needs and possibilities of our schools, creating opportunities, experiences, and resources that go beyond what traditional school funding can provide. </a:t>
            </a:r>
            <a:endParaRPr b="0" i="0" sz="1400" u="none" cap="none" strike="noStrike">
              <a:solidFill>
                <a:schemeClr val="dk1"/>
              </a:solidFill>
              <a:latin typeface="Calibri"/>
              <a:ea typeface="Calibri"/>
              <a:cs typeface="Calibri"/>
              <a:sym typeface="Calibri"/>
            </a:endParaRPr>
          </a:p>
        </p:txBody>
      </p:sp>
      <p:sp>
        <p:nvSpPr>
          <p:cNvPr id="410" name="Google Shape;410;p25"/>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“RUSF” • PDF p. 2</a:t>
            </a:r>
            <a:endParaRPr b="0" i="0" sz="1400" u="none" cap="none" strike="noStrike">
              <a:solidFill>
                <a:schemeClr val="dk1"/>
              </a:solidFill>
              <a:latin typeface="Calibri"/>
              <a:ea typeface="Calibri"/>
              <a:cs typeface="Calibri"/>
              <a:sym typeface="Calibri"/>
            </a:endParaRPr>
          </a:p>
        </p:txBody>
      </p:sp>
      <p:sp>
        <p:nvSpPr>
          <p:cNvPr id="411" name="Google Shape;411;p25"/>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11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416" name="Shape 416"/>
        <p:cNvGrpSpPr/>
        <p:nvPr/>
      </p:nvGrpSpPr>
      <p:grpSpPr>
        <a:xfrm>
          <a:off x="0" y="0"/>
          <a:ext cx="0" cy="0"/>
          <a:chOff x="0" y="0"/>
          <a:chExt cx="0" cy="0"/>
        </a:xfrm>
      </p:grpSpPr>
      <p:sp>
        <p:nvSpPr>
          <p:cNvPr id="417" name="Google Shape;417;p26"/>
          <p:cNvSpPr/>
          <p:nvPr/>
        </p:nvSpPr>
        <p:spPr>
          <a:xfrm>
            <a:off x="0" y="0"/>
            <a:ext cx="12191695" cy="1371600"/>
          </a:xfrm>
          <a:prstGeom prst="rect">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26"/>
          <p:cNvSpPr/>
          <p:nvPr/>
        </p:nvSpPr>
        <p:spPr>
          <a:xfrm>
            <a:off x="457200" y="457200"/>
            <a:ext cx="868680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900"/>
              </a:buClr>
              <a:buSzPts val="1100"/>
              <a:buFont typeface="Quattrocento Sans"/>
              <a:buNone/>
            </a:pPr>
            <a:r>
              <a:rPr b="1" i="0" lang="en-US" sz="1400" u="none" cap="none" strike="noStrike">
                <a:solidFill>
                  <a:srgbClr val="FFB900"/>
                </a:solidFill>
                <a:latin typeface="Quattrocento Sans"/>
                <a:ea typeface="Quattrocento Sans"/>
                <a:cs typeface="Quattrocento Sans"/>
                <a:sym typeface="Quattrocento Sans"/>
              </a:rPr>
              <a:t>SPARK 05 • INNOVATION ENABLER • PAGE 2 OF 2</a:t>
            </a:r>
            <a:endParaRPr b="1" i="0" sz="1400" u="none" cap="none" strike="noStrike">
              <a:solidFill>
                <a:schemeClr val="dk1"/>
              </a:solidFill>
              <a:latin typeface="Calibri"/>
              <a:ea typeface="Calibri"/>
              <a:cs typeface="Calibri"/>
              <a:sym typeface="Calibri"/>
            </a:endParaRPr>
          </a:p>
        </p:txBody>
      </p:sp>
      <p:sp>
        <p:nvSpPr>
          <p:cNvPr id="419" name="Google Shape;419;p26"/>
          <p:cNvSpPr/>
          <p:nvPr/>
        </p:nvSpPr>
        <p:spPr>
          <a:xfrm>
            <a:off x="457200" y="853440"/>
            <a:ext cx="73452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Quattrocento Sans"/>
              <a:buNone/>
            </a:pPr>
            <a:r>
              <a:rPr b="1" i="0" lang="en-US" sz="2400" u="none" cap="none" strike="noStrike">
                <a:solidFill>
                  <a:srgbClr val="FFFFFF"/>
                </a:solidFill>
                <a:latin typeface="Quattrocento Sans"/>
                <a:ea typeface="Quattrocento Sans"/>
                <a:cs typeface="Quattrocento Sans"/>
                <a:sym typeface="Quattrocento Sans"/>
              </a:rPr>
              <a:t>Racine Unified School Foundation</a:t>
            </a:r>
            <a:endParaRPr b="1" i="0" sz="2400" u="none" cap="none" strike="noStrike">
              <a:solidFill>
                <a:schemeClr val="dk1"/>
              </a:solidFill>
              <a:latin typeface="Calibri"/>
              <a:ea typeface="Calibri"/>
              <a:cs typeface="Calibri"/>
              <a:sym typeface="Calibri"/>
            </a:endParaRPr>
          </a:p>
        </p:txBody>
      </p:sp>
      <p:sp>
        <p:nvSpPr>
          <p:cNvPr id="420" name="Google Shape;420;p26"/>
          <p:cNvSpPr/>
          <p:nvPr/>
        </p:nvSpPr>
        <p:spPr>
          <a:xfrm>
            <a:off x="8077200" y="731520"/>
            <a:ext cx="3657600" cy="563880"/>
          </a:xfrm>
          <a:prstGeom prst="roundRect">
            <a:avLst>
              <a:gd fmla="val 49091" name="adj"/>
            </a:avLst>
          </a:prstGeom>
          <a:solidFill>
            <a:srgbClr val="FFB900"/>
          </a:solidFill>
          <a:ln cap="flat" cmpd="sng" w="1905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26"/>
          <p:cNvSpPr/>
          <p:nvPr/>
        </p:nvSpPr>
        <p:spPr>
          <a:xfrm>
            <a:off x="8077200" y="838200"/>
            <a:ext cx="3657600" cy="350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Institutional Innovation</a:t>
            </a:r>
            <a:endParaRPr b="1" i="0" sz="1400" u="none" cap="none" strike="noStrike">
              <a:solidFill>
                <a:schemeClr val="dk1"/>
              </a:solidFill>
              <a:latin typeface="Calibri"/>
              <a:ea typeface="Calibri"/>
              <a:cs typeface="Calibri"/>
              <a:sym typeface="Calibri"/>
            </a:endParaRPr>
          </a:p>
        </p:txBody>
      </p:sp>
      <p:sp>
        <p:nvSpPr>
          <p:cNvPr id="422" name="Google Shape;422;p26"/>
          <p:cNvSpPr/>
          <p:nvPr/>
        </p:nvSpPr>
        <p:spPr>
          <a:xfrm>
            <a:off x="457200" y="1600200"/>
            <a:ext cx="11247120" cy="1051560"/>
          </a:xfrm>
          <a:prstGeom prst="roundRect">
            <a:avLst>
              <a:gd fmla="val 9091"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26"/>
          <p:cNvSpPr/>
          <p:nvPr/>
        </p:nvSpPr>
        <p:spPr>
          <a:xfrm>
            <a:off x="457200" y="1600200"/>
            <a:ext cx="137160" cy="105156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26"/>
          <p:cNvSpPr/>
          <p:nvPr/>
        </p:nvSpPr>
        <p:spPr>
          <a:xfrm>
            <a:off x="777240" y="1645920"/>
            <a:ext cx="1088136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WHO BENEFITS</a:t>
            </a:r>
            <a:endParaRPr b="1" i="0" sz="1400" u="none" cap="none" strike="noStrike">
              <a:solidFill>
                <a:schemeClr val="dk1"/>
              </a:solidFill>
              <a:latin typeface="Calibri"/>
              <a:ea typeface="Calibri"/>
              <a:cs typeface="Calibri"/>
              <a:sym typeface="Calibri"/>
            </a:endParaRPr>
          </a:p>
        </p:txBody>
      </p:sp>
      <p:sp>
        <p:nvSpPr>
          <p:cNvPr id="425" name="Google Shape;425;p26"/>
          <p:cNvSpPr/>
          <p:nvPr/>
        </p:nvSpPr>
        <p:spPr>
          <a:xfrm>
            <a:off x="777240" y="2042160"/>
            <a:ext cx="10881360" cy="563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201F"/>
              </a:buClr>
              <a:buSzPts val="1250"/>
              <a:buFont typeface="Quattrocento Sans"/>
              <a:buNone/>
            </a:pPr>
            <a:r>
              <a:rPr lang="en-US">
                <a:solidFill>
                  <a:srgbClr val="23201F"/>
                </a:solidFill>
                <a:latin typeface="Quattrocento Sans"/>
                <a:ea typeface="Quattrocento Sans"/>
                <a:cs typeface="Quattrocento Sans"/>
                <a:sym typeface="Quattrocento Sans"/>
              </a:rPr>
              <a:t>RUSF creates opportunities that benefit students, empower educators, strengthen schools, and connect RUSD with the businesses and community partners who believe in the future of Racine. </a:t>
            </a:r>
            <a:endParaRPr b="0" i="0" sz="1400" u="none" cap="none" strike="noStrike">
              <a:solidFill>
                <a:schemeClr val="dk1"/>
              </a:solidFill>
              <a:latin typeface="Calibri"/>
              <a:ea typeface="Calibri"/>
              <a:cs typeface="Calibri"/>
              <a:sym typeface="Calibri"/>
            </a:endParaRPr>
          </a:p>
        </p:txBody>
      </p:sp>
      <p:sp>
        <p:nvSpPr>
          <p:cNvPr id="426" name="Google Shape;426;p26"/>
          <p:cNvSpPr/>
          <p:nvPr/>
        </p:nvSpPr>
        <p:spPr>
          <a:xfrm>
            <a:off x="457200" y="2788920"/>
            <a:ext cx="112471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5B62"/>
              </a:buClr>
              <a:buSzPts val="1200"/>
              <a:buFont typeface="Quattrocento Sans"/>
              <a:buNone/>
            </a:pPr>
            <a:r>
              <a:rPr b="1" i="0" lang="en-US" sz="1400" u="none" cap="none" strike="noStrike">
                <a:solidFill>
                  <a:srgbClr val="225B62"/>
                </a:solidFill>
                <a:latin typeface="Quattrocento Sans"/>
                <a:ea typeface="Quattrocento Sans"/>
                <a:cs typeface="Quattrocento Sans"/>
                <a:sym typeface="Quattrocento Sans"/>
              </a:rPr>
              <a:t>OUTCOMES &amp; IMPACT — STATUS ONLY; DEMONSTRATED IMPACT NOT REPORTED</a:t>
            </a:r>
            <a:endParaRPr b="1" i="0" sz="1400" u="none" cap="none" strike="noStrike">
              <a:solidFill>
                <a:schemeClr val="dk1"/>
              </a:solidFill>
              <a:latin typeface="Calibri"/>
              <a:ea typeface="Calibri"/>
              <a:cs typeface="Calibri"/>
              <a:sym typeface="Calibri"/>
            </a:endParaRPr>
          </a:p>
        </p:txBody>
      </p:sp>
      <p:sp>
        <p:nvSpPr>
          <p:cNvPr id="427" name="Google Shape;427;p26"/>
          <p:cNvSpPr/>
          <p:nvPr/>
        </p:nvSpPr>
        <p:spPr>
          <a:xfrm>
            <a:off x="4572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6"/>
          <p:cNvSpPr/>
          <p:nvPr/>
        </p:nvSpPr>
        <p:spPr>
          <a:xfrm>
            <a:off x="5943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i="0" lang="en-US" sz="3200" u="none" cap="none" strike="noStrike">
                <a:solidFill>
                  <a:srgbClr val="FFB900"/>
                </a:solidFill>
                <a:latin typeface="Quattrocento Sans"/>
                <a:ea typeface="Quattrocento Sans"/>
                <a:cs typeface="Quattrocento Sans"/>
                <a:sym typeface="Quattrocento Sans"/>
              </a:rPr>
              <a:t>New</a:t>
            </a:r>
            <a:endParaRPr b="1" i="0" sz="3200" u="none" cap="none" strike="noStrike">
              <a:solidFill>
                <a:schemeClr val="dk1"/>
              </a:solidFill>
              <a:latin typeface="Calibri"/>
              <a:ea typeface="Calibri"/>
              <a:cs typeface="Calibri"/>
              <a:sym typeface="Calibri"/>
            </a:endParaRPr>
          </a:p>
        </p:txBody>
      </p:sp>
      <p:sp>
        <p:nvSpPr>
          <p:cNvPr id="429" name="Google Shape;429;p26"/>
          <p:cNvSpPr/>
          <p:nvPr/>
        </p:nvSpPr>
        <p:spPr>
          <a:xfrm>
            <a:off x="594360" y="3792235"/>
            <a:ext cx="3332400" cy="53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b="0" i="0" lang="en-US" sz="1400" u="none" cap="none" strike="noStrike">
                <a:solidFill>
                  <a:srgbClr val="FFFFFF"/>
                </a:solidFill>
                <a:latin typeface="Quattrocento Sans"/>
                <a:ea typeface="Quattrocento Sans"/>
                <a:cs typeface="Quattrocento Sans"/>
                <a:sym typeface="Quattrocento Sans"/>
              </a:rPr>
              <a:t>501(c)(3) established</a:t>
            </a:r>
            <a:endParaRPr b="0" i="0" sz="1400" u="none" cap="none" strike="noStrike">
              <a:solidFill>
                <a:srgbClr val="FFFFFF"/>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Foundation launched</a:t>
            </a:r>
            <a:endParaRPr>
              <a:solidFill>
                <a:srgbClr val="FFFFFF"/>
              </a:solidFill>
              <a:latin typeface="Quattrocento Sans"/>
              <a:ea typeface="Quattrocento Sans"/>
              <a:cs typeface="Quattrocento Sans"/>
              <a:sym typeface="Quattrocento Sans"/>
            </a:endParaRPr>
          </a:p>
        </p:txBody>
      </p:sp>
      <p:sp>
        <p:nvSpPr>
          <p:cNvPr id="430" name="Google Shape;430;p26"/>
          <p:cNvSpPr/>
          <p:nvPr/>
        </p:nvSpPr>
        <p:spPr>
          <a:xfrm>
            <a:off x="42926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26"/>
          <p:cNvSpPr/>
          <p:nvPr/>
        </p:nvSpPr>
        <p:spPr>
          <a:xfrm>
            <a:off x="44297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lang="en-US" sz="3200">
                <a:solidFill>
                  <a:srgbClr val="FFB900"/>
                </a:solidFill>
                <a:latin typeface="Quattrocento Sans"/>
                <a:ea typeface="Quattrocento Sans"/>
                <a:cs typeface="Quattrocento Sans"/>
                <a:sym typeface="Quattrocento Sans"/>
              </a:rPr>
              <a:t>$50K</a:t>
            </a:r>
            <a:endParaRPr b="1" i="0" sz="3200" u="none" cap="none" strike="noStrike">
              <a:solidFill>
                <a:schemeClr val="dk1"/>
              </a:solidFill>
              <a:latin typeface="Calibri"/>
              <a:ea typeface="Calibri"/>
              <a:cs typeface="Calibri"/>
              <a:sym typeface="Calibri"/>
            </a:endParaRPr>
          </a:p>
        </p:txBody>
      </p:sp>
      <p:sp>
        <p:nvSpPr>
          <p:cNvPr id="432" name="Google Shape;432;p26"/>
          <p:cNvSpPr/>
          <p:nvPr/>
        </p:nvSpPr>
        <p:spPr>
          <a:xfrm>
            <a:off x="4429760" y="3792235"/>
            <a:ext cx="3332400" cy="53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Community Funding</a:t>
            </a:r>
            <a:endParaRPr>
              <a:solidFill>
                <a:srgbClr val="FFFFFF"/>
              </a:solidFill>
              <a:latin typeface="Quattrocento Sans"/>
              <a:ea typeface="Quattrocento Sans"/>
              <a:cs typeface="Quattrocento Sans"/>
              <a:sym typeface="Quattrocento Sans"/>
            </a:endParaRPr>
          </a:p>
        </p:txBody>
      </p:sp>
      <p:sp>
        <p:nvSpPr>
          <p:cNvPr id="433" name="Google Shape;433;p26"/>
          <p:cNvSpPr/>
          <p:nvPr/>
        </p:nvSpPr>
        <p:spPr>
          <a:xfrm>
            <a:off x="8128000" y="3230880"/>
            <a:ext cx="3606800" cy="1066800"/>
          </a:xfrm>
          <a:prstGeom prst="roundRect">
            <a:avLst>
              <a:gd fmla="val 6452" name="adj"/>
            </a:avLst>
          </a:prstGeom>
          <a:solidFill>
            <a:srgbClr val="225B62"/>
          </a:solidFill>
          <a:ln cap="flat" cmpd="sng" w="12700">
            <a:solidFill>
              <a:srgbClr val="225B6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6"/>
          <p:cNvSpPr/>
          <p:nvPr/>
        </p:nvSpPr>
        <p:spPr>
          <a:xfrm>
            <a:off x="8265160" y="3276600"/>
            <a:ext cx="3332480" cy="624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B900"/>
              </a:buClr>
              <a:buSzPts val="3200"/>
              <a:buFont typeface="Quattrocento Sans"/>
              <a:buNone/>
            </a:pPr>
            <a:r>
              <a:rPr b="1" lang="en-US" sz="3200">
                <a:solidFill>
                  <a:srgbClr val="FFB900"/>
                </a:solidFill>
                <a:latin typeface="Quattrocento Sans"/>
                <a:ea typeface="Quattrocento Sans"/>
                <a:cs typeface="Quattrocento Sans"/>
                <a:sym typeface="Quattrocento Sans"/>
              </a:rPr>
              <a:t>District Wide</a:t>
            </a:r>
            <a:endParaRPr b="1" i="0" sz="3200" u="none" cap="none" strike="noStrike">
              <a:solidFill>
                <a:schemeClr val="dk1"/>
              </a:solidFill>
              <a:latin typeface="Calibri"/>
              <a:ea typeface="Calibri"/>
              <a:cs typeface="Calibri"/>
              <a:sym typeface="Calibri"/>
            </a:endParaRPr>
          </a:p>
        </p:txBody>
      </p:sp>
      <p:sp>
        <p:nvSpPr>
          <p:cNvPr id="435" name="Google Shape;435;p26"/>
          <p:cNvSpPr/>
          <p:nvPr/>
        </p:nvSpPr>
        <p:spPr>
          <a:xfrm>
            <a:off x="8265160" y="3792235"/>
            <a:ext cx="3332400" cy="53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Opportunities across RUSD</a:t>
            </a:r>
            <a:endParaRPr>
              <a:solidFill>
                <a:srgbClr val="FFFFFF"/>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FFFFFF"/>
              </a:buClr>
              <a:buSzPts val="1200"/>
              <a:buFont typeface="Quattrocento Sans"/>
              <a:buNone/>
            </a:pPr>
            <a:r>
              <a:rPr lang="en-US">
                <a:solidFill>
                  <a:srgbClr val="FFFFFF"/>
                </a:solidFill>
                <a:latin typeface="Quattrocento Sans"/>
                <a:ea typeface="Quattrocento Sans"/>
                <a:cs typeface="Quattrocento Sans"/>
                <a:sym typeface="Quattrocento Sans"/>
              </a:rPr>
              <a:t>Students - Staff - Schools</a:t>
            </a:r>
            <a:endParaRPr>
              <a:solidFill>
                <a:srgbClr val="FFFFFF"/>
              </a:solidFill>
              <a:latin typeface="Quattrocento Sans"/>
              <a:ea typeface="Quattrocento Sans"/>
              <a:cs typeface="Quattrocento Sans"/>
              <a:sym typeface="Quattrocento Sans"/>
            </a:endParaRPr>
          </a:p>
        </p:txBody>
      </p:sp>
      <p:sp>
        <p:nvSpPr>
          <p:cNvPr id="436" name="Google Shape;436;p26"/>
          <p:cNvSpPr/>
          <p:nvPr/>
        </p:nvSpPr>
        <p:spPr>
          <a:xfrm>
            <a:off x="457200" y="4434840"/>
            <a:ext cx="562356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p26"/>
          <p:cNvSpPr/>
          <p:nvPr/>
        </p:nvSpPr>
        <p:spPr>
          <a:xfrm>
            <a:off x="457200" y="4434840"/>
            <a:ext cx="5623560" cy="350520"/>
          </a:xfrm>
          <a:prstGeom prst="rect">
            <a:avLst/>
          </a:prstGeom>
          <a:solidFill>
            <a:srgbClr val="FFB900"/>
          </a:solidFill>
          <a:ln cap="flat" cmpd="sng" w="12700">
            <a:solidFill>
              <a:srgbClr val="FFB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p26"/>
          <p:cNvSpPr/>
          <p:nvPr/>
        </p:nvSpPr>
        <p:spPr>
          <a:xfrm>
            <a:off x="640080" y="4434840"/>
            <a:ext cx="530352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01F"/>
              </a:buClr>
              <a:buSzPts val="1100"/>
              <a:buFont typeface="Quattrocento Sans"/>
              <a:buNone/>
            </a:pPr>
            <a:r>
              <a:rPr b="1" i="0" lang="en-US" sz="1400" u="none" cap="none" strike="noStrike">
                <a:solidFill>
                  <a:srgbClr val="23201F"/>
                </a:solidFill>
                <a:latin typeface="Quattrocento Sans"/>
                <a:ea typeface="Quattrocento Sans"/>
                <a:cs typeface="Quattrocento Sans"/>
                <a:sym typeface="Quattrocento Sans"/>
              </a:rPr>
              <a:t>RESPONSIBLE AI CONSIDERATIONS</a:t>
            </a:r>
            <a:endParaRPr b="1" i="0" sz="1400" u="none" cap="none" strike="noStrike">
              <a:solidFill>
                <a:schemeClr val="dk1"/>
              </a:solidFill>
              <a:latin typeface="Calibri"/>
              <a:ea typeface="Calibri"/>
              <a:cs typeface="Calibri"/>
              <a:sym typeface="Calibri"/>
            </a:endParaRPr>
          </a:p>
        </p:txBody>
      </p:sp>
      <p:sp>
        <p:nvSpPr>
          <p:cNvPr id="439" name="Google Shape;439;p26"/>
          <p:cNvSpPr/>
          <p:nvPr/>
        </p:nvSpPr>
        <p:spPr>
          <a:xfrm>
            <a:off x="640080" y="4876800"/>
            <a:ext cx="5303520" cy="99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Questrial"/>
                <a:ea typeface="Questrial"/>
                <a:cs typeface="Questrial"/>
                <a:sym typeface="Questrial"/>
              </a:rPr>
              <a:t>AI should expand opportunity, not replace human judgment.</a:t>
            </a:r>
            <a:endParaRPr>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23201F"/>
              </a:buClr>
              <a:buSzPts val="1150"/>
              <a:buFont typeface="Quattrocento Sans"/>
              <a:buNone/>
            </a:pPr>
            <a:r>
              <a:rPr lang="en-US">
                <a:solidFill>
                  <a:schemeClr val="dk1"/>
                </a:solidFill>
                <a:latin typeface="Questrial"/>
                <a:ea typeface="Questrial"/>
                <a:cs typeface="Questrial"/>
                <a:sym typeface="Questrial"/>
              </a:rPr>
              <a:t>As RUSF considers technology-focused initiatives, investments should align with RUSD AI guidelines, protect student and staff data, and include appropriate human oversight. </a:t>
            </a:r>
            <a:endParaRPr sz="1700">
              <a:solidFill>
                <a:srgbClr val="23201F"/>
              </a:solidFill>
              <a:latin typeface="Questrial"/>
              <a:ea typeface="Questrial"/>
              <a:cs typeface="Questrial"/>
              <a:sym typeface="Questrial"/>
            </a:endParaRPr>
          </a:p>
        </p:txBody>
      </p:sp>
      <p:sp>
        <p:nvSpPr>
          <p:cNvPr id="440" name="Google Shape;440;p26"/>
          <p:cNvSpPr/>
          <p:nvPr/>
        </p:nvSpPr>
        <p:spPr>
          <a:xfrm>
            <a:off x="6263640" y="4434840"/>
            <a:ext cx="5440680" cy="1478280"/>
          </a:xfrm>
          <a:prstGeom prst="roundRect">
            <a:avLst>
              <a:gd fmla="val 5882" name="adj"/>
            </a:avLst>
          </a:prstGeom>
          <a:solidFill>
            <a:srgbClr val="FFFFFF"/>
          </a:solidFill>
          <a:ln cap="flat" cmpd="sng" w="19050">
            <a:solidFill>
              <a:srgbClr val="225B62">
                <a:alpha val="2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26"/>
          <p:cNvSpPr/>
          <p:nvPr/>
        </p:nvSpPr>
        <p:spPr>
          <a:xfrm>
            <a:off x="6263640" y="4434840"/>
            <a:ext cx="5440680" cy="350520"/>
          </a:xfrm>
          <a:prstGeom prst="rect">
            <a:avLst/>
          </a:prstGeom>
          <a:solidFill>
            <a:srgbClr val="7B4F9E"/>
          </a:solidFill>
          <a:ln cap="flat" cmpd="sng" w="12700">
            <a:solidFill>
              <a:srgbClr val="7B4F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6"/>
          <p:cNvSpPr/>
          <p:nvPr/>
        </p:nvSpPr>
        <p:spPr>
          <a:xfrm>
            <a:off x="6446520" y="4434840"/>
            <a:ext cx="512064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Quattrocento Sans"/>
              <a:buNone/>
            </a:pPr>
            <a:r>
              <a:rPr b="1" i="0" lang="en-US" sz="1400" u="none" cap="none" strike="noStrike">
                <a:solidFill>
                  <a:srgbClr val="FFFFFF"/>
                </a:solidFill>
                <a:latin typeface="Quattrocento Sans"/>
                <a:ea typeface="Quattrocento Sans"/>
                <a:cs typeface="Quattrocento Sans"/>
                <a:sym typeface="Quattrocento Sans"/>
              </a:rPr>
              <a:t>WHAT'S NEXT</a:t>
            </a:r>
            <a:endParaRPr b="1" i="0" sz="1400" u="none" cap="none" strike="noStrike">
              <a:solidFill>
                <a:schemeClr val="dk1"/>
              </a:solidFill>
              <a:latin typeface="Calibri"/>
              <a:ea typeface="Calibri"/>
              <a:cs typeface="Calibri"/>
              <a:sym typeface="Calibri"/>
            </a:endParaRPr>
          </a:p>
        </p:txBody>
      </p:sp>
      <p:sp>
        <p:nvSpPr>
          <p:cNvPr id="443" name="Google Shape;443;p26"/>
          <p:cNvSpPr/>
          <p:nvPr/>
        </p:nvSpPr>
        <p:spPr>
          <a:xfrm>
            <a:off x="6446520" y="4876800"/>
            <a:ext cx="5120640" cy="99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Questrial"/>
                <a:ea typeface="Questrial"/>
                <a:cs typeface="Questrial"/>
                <a:sym typeface="Questrial"/>
              </a:rPr>
              <a:t>Build the foundation. Build the partnerships. Build the impact.</a:t>
            </a:r>
            <a:br>
              <a:rPr lang="en-US">
                <a:solidFill>
                  <a:schemeClr val="dk1"/>
                </a:solidFill>
                <a:latin typeface="Questrial"/>
                <a:ea typeface="Questrial"/>
                <a:cs typeface="Questrial"/>
                <a:sym typeface="Questrial"/>
              </a:rPr>
            </a:br>
            <a:r>
              <a:rPr lang="en-US">
                <a:solidFill>
                  <a:schemeClr val="dk1"/>
                </a:solidFill>
                <a:latin typeface="Questrial"/>
                <a:ea typeface="Questrial"/>
                <a:cs typeface="Questrial"/>
                <a:sym typeface="Questrial"/>
              </a:rPr>
              <a:t>Establish funding priorities, develop community and business partnerships, launch initial opportunities, and create a process to measure and communicate impact.</a:t>
            </a:r>
            <a:endParaRPr>
              <a:solidFill>
                <a:schemeClr val="dk1"/>
              </a:solidFill>
              <a:latin typeface="Questrial"/>
              <a:ea typeface="Questrial"/>
              <a:cs typeface="Questrial"/>
              <a:sym typeface="Questrial"/>
            </a:endParaRPr>
          </a:p>
          <a:p>
            <a:pPr indent="0" lvl="0" marL="0" marR="0" rtl="0" algn="l">
              <a:lnSpc>
                <a:spcPct val="100000"/>
              </a:lnSpc>
              <a:spcBef>
                <a:spcPts val="1200"/>
              </a:spcBef>
              <a:spcAft>
                <a:spcPts val="0"/>
              </a:spcAft>
              <a:buClr>
                <a:srgbClr val="23201F"/>
              </a:buClr>
              <a:buSzPts val="1150"/>
              <a:buFont typeface="Quattrocento Sans"/>
              <a:buNone/>
            </a:pPr>
            <a:r>
              <a:t/>
            </a:r>
            <a:endParaRPr>
              <a:solidFill>
                <a:srgbClr val="23201F"/>
              </a:solidFill>
              <a:latin typeface="Quattrocento Sans"/>
              <a:ea typeface="Quattrocento Sans"/>
              <a:cs typeface="Quattrocento Sans"/>
              <a:sym typeface="Quattrocento Sans"/>
            </a:endParaRPr>
          </a:p>
        </p:txBody>
      </p:sp>
      <p:sp>
        <p:nvSpPr>
          <p:cNvPr id="444" name="Google Shape;444;p26"/>
          <p:cNvSpPr/>
          <p:nvPr/>
        </p:nvSpPr>
        <p:spPr>
          <a:xfrm>
            <a:off x="457200" y="6050280"/>
            <a:ext cx="9860280" cy="350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David Venne • September 14, 2026 • “RUSF” • PDF p. 2</a:t>
            </a:r>
            <a:endParaRPr b="0" i="0" sz="1400" u="none" cap="none" strike="noStrike">
              <a:solidFill>
                <a:schemeClr val="dk1"/>
              </a:solidFill>
              <a:latin typeface="Calibri"/>
              <a:ea typeface="Calibri"/>
              <a:cs typeface="Calibri"/>
              <a:sym typeface="Calibri"/>
            </a:endParaRPr>
          </a:p>
        </p:txBody>
      </p:sp>
      <p:sp>
        <p:nvSpPr>
          <p:cNvPr id="445" name="Google Shape;445;p26"/>
          <p:cNvSpPr/>
          <p:nvPr/>
        </p:nvSpPr>
        <p:spPr>
          <a:xfrm>
            <a:off x="10591800" y="6050280"/>
            <a:ext cx="1143000" cy="3505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C5450"/>
              </a:buClr>
              <a:buSzPts val="1000"/>
              <a:buFont typeface="Quattrocento Sans"/>
              <a:buNone/>
            </a:pPr>
            <a:r>
              <a:rPr b="0" i="0" lang="en-US" sz="1400" u="none" cap="none" strike="noStrike">
                <a:solidFill>
                  <a:srgbClr val="5C5450"/>
                </a:solidFill>
                <a:latin typeface="Quattrocento Sans"/>
                <a:ea typeface="Quattrocento Sans"/>
                <a:cs typeface="Quattrocento Sans"/>
                <a:sym typeface="Quattrocento Sans"/>
              </a:rPr>
              <a:t>12 / 12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2026-06-01T01:03:44Z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0x01010004DBCF3F55833246BA07A193B159BE3C</vt:lpwstr>
  </property>
  <property fmtid="{D5CDD505-2E9C-101B-9397-08002B2CF9AE}" pid="3" name="MediaServiceImageTags">
    <vt:lpwstr/>
  </property>
</Properties>
</file>